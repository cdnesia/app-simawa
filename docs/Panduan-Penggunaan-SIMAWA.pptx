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c5ac6cef-452d-b17b-4527-ceda7c9ca6cb}">
          <p14:sldIdLst>
            <p14:sldId id="256"/>
          </p14:sldIdLst>
        </p14:section>
        <p14:section name="Memulai" id="{cfab2b60-c471-25c1-9510-515a122fc1ed}">
          <p14:sldIdLst>
            <p14:sldId id="257"/>
            <p14:sldId id="258"/>
            <p14:sldId id="259"/>
            <p14:sldId id="260"/>
            <p14:sldId id="261"/>
          </p14:sldIdLst>
        </p14:section>
        <p14:section name="Akademik" id="{d9dde84d-7d0e-2a02-c1c4-f89cf53793ef}">
          <p14:sldIdLst>
            <p14:sldId id="262"/>
            <p14:sldId id="263"/>
            <p14:sldId id="264"/>
            <p14:sldId id="265"/>
            <p14:sldId id="266"/>
            <p14:sldId id="267"/>
            <p14:sldId id="268"/>
            <p14:sldId id="269"/>
          </p14:sldIdLst>
        </p14:section>
        <p14:section name="Pendaftaran &amp; Keuangan" id="{8bb0730c-a963-d358-8898-b990b239ea0f}">
          <p14:sldIdLst>
            <p14:sldId id="270"/>
            <p14:sldId id="271"/>
            <p14:sldId id="272"/>
            <p14:sldId id="273"/>
          </p14:sldIdLst>
        </p14:section>
        <p14:section name="Penutup" id="{cb4d168c-2028-c9bc-3cbf-a1dd2ea30796}">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konteks: SIMAWA adalah satu pintu untuk semua urusan akademik mahasiswa. Presentasi ini mengikuti urutan yang dialami mahasiswa dalam satu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kelompok menu. Kanan: tampilan di HP (dashboard dan menu terbuka). Transkrip Nilai masih berlabel segera dan belum bisa diklik. Semua data pada screenshot adalah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NPM atau password salah, muncul notifikasi "NPM atau password salah". Terlalu banyak percobaan memunculkan banner merah dengan hitung mundur; tombol Masuk nonaktif selama hitung mundur.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adalah halaman pertama setelah login. Slide berikutnya memperbesar kartu profil, grafik IPK, dan tagihan.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sumbu grafik memakai format tahun/semester, misalnya 25/1 berarti 2025/2026 Ganjil. Data pada screenshot adalah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Penerima beasiswa penuh tidak melihat SPP di kartu ini karena sudah ditanggung beasiswa. Gambar kanan bawah: klik nama di pojok kanan atas untuk membuka menu akun dan tombol Logout.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kunci. SPP belum 60%: kontrak KRS terkunci. EDOM belum diisi: rincian nilai terkunci dan KHS tidak bisa dicetak. Penerima beasiswa penuh yang sudah terverifikasi (termasuk KIP-K) dikecualikan dari syarat SPP.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muncul "Tidak ada tahun akademik aktif", hubungi akademik atau prodi; itu bukan kesalahan mahasiswa.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KRS berisi Kode, Mata Kuliah, SKS, Hari, Jam, Ruang, Dosen, Status PA. Tombol Kontrak KRS membawa ke halaman kontrak (dibahas di tiga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Pengecekan SPP dilakukan otomatis setiap kali halaman Kontrak KRS dibuka, sebelum jadwal dimuat. Kalau SPP belum memenuhi, daftar jadwal tidak akan muncul sama sekali. Panel merah "Status pembayaran belum bisa dicek" berarti gangguan sistem: mahasiswa tidak perlu membayar apa pun, cukup klik Coba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Peragakan langsung di aplikasi bila memungkinkan. Langkah 5 dan 6 diulang sampai semua mata kuliah yang direncanakan sudah dikontrak. Selama satu tombol masih memproses, tombol lain dinonaktifkan sementara, jadi tunggu sampai selesai sebelum klik berikutnya. KRS yang masih "Menunggu PA" belum final; ingatkan mahasiswa untuk menghubungi dosen 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memakai data contoh. Kontrak dan pembatalan bisa dilakukan berulang selama halaman Kontrak KRS masih menampilkan jadwal. Pesan penolakan (misalnya batas SKS) berasal dari sistem dan muncul sebagai notifikasi merah di kanan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 nilai berwarna menurut huruf: A hijau, B biru, C kuning, D/E merah. Mata kuliah tanpa jadwal tidak menghalangi cetak KHS. Nilai yang belum diinput dosen tampil "Belum dinilai".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Tombol Batal membawa kembali ke KHS di periode yang sama. Setelah tersimpan, otomatis kembali ke KHS. Jika EDOM sudah pernah diisi, halaman menampilkan "Anda sudah mengisi 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berhasil, notifikasi menampilkan kode bayar. Kode ini juga ada di halaman Riwayat Pendaftaran, lengkap dengan tombol Salin, biaya, dan batas akhir pembayaran. Alasan "Belum Memenuhi Syarat" ditampilkan di kotak merah pada kartu.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memakai KKN; PKL, Seminar Proposal, dan Sidang Tugas Akhir punya tampilan yang sama. Data pada screenshot adalah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dalam aplikasi, judul halaman tertulis "Tagihan" walau nama menunya "Riwayat Tagihan". Halaman ini hanya untuk memantau, tidak ada tombol bayar.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 "Tahun Aktif" menandai beasiswa tahun akademik berjalan. Data pada screenshot adalah data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masalah data (tahun masuk tidak lengkap, tidak ada tahun akademik aktif), arahkan mahasiswa ke bagian akademik atau prodi.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mengulang empat kata kunci alur semester.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_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2331720"/>
            <a:ext cx="7315200" cy="411480"/>
          </a:xfrm>
          <a:prstGeom prst="rect">
            <a:avLst/>
          </a:prstGeom>
          <a:noFill/>
          <a:ln/>
        </p:spPr>
        <p:txBody>
          <a:bodyPr wrap="square" rtlCol="0"/>
          <a:lstStyle>
            <a:lvl1pPr indent="0" marL="0">
              <a:buNone/>
              <a:defRPr lang="en-US" sz="1500" b="1" spc="300" kern="0" dirty="0">
                <a:solidFill>
                  <a:schemeClr val="accent2"/>
                </a:solidFill>
              </a:defRPr>
            </a:lvl1pPr>
          </a:lstStyle>
          <a:p>
            <a:pPr indent="0" marL="0">
              <a:buNone/>
            </a:pPr>
            <a:endParaRPr lang="en-US" sz="1500" dirty="0"/>
          </a:p>
        </p:txBody>
      </p:sp>
      <p:sp>
        <p:nvSpPr>
          <p:cNvPr id="3" name="Text 0"/>
          <p:cNvSpPr/>
          <p:nvPr>
            <p:ph idx="101" type="title" hasCustomPrompt="1"/>
          </p:nvPr>
        </p:nvSpPr>
        <p:spPr>
          <a:xfrm>
            <a:off x="813816" y="2788920"/>
            <a:ext cx="7498080" cy="1783080"/>
          </a:xfrm>
          <a:prstGeom prst="rect">
            <a:avLst/>
          </a:prstGeom>
          <a:noFill/>
          <a:ln/>
        </p:spPr>
        <p:txBody>
          <a:bodyPr wrap="square" rtlCol="0"/>
          <a:lstStyle>
            <a:lvl1pPr algn="l" indent="0" marL="0">
              <a:lnSpc>
                <a:spcPct val="95000"/>
              </a:lnSpc>
              <a:buNone/>
              <a:defRPr lang="en-US" sz="5200" b="1" dirty="0">
                <a:solidFill>
                  <a:schemeClr val="bg1"/>
                </a:solidFill>
              </a:defRPr>
            </a:lvl1pPr>
          </a:lstStyle>
          <a:p>
            <a:pPr algn="l" indent="0" marL="0">
              <a:lnSpc>
                <a:spcPct val="95000"/>
              </a:lnSpc>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64748B"/>
                </a:solidFill>
              </a:rPr>
              <a:t>SIMAWA · Panduan Penggunaan</a:t>
            </a:r>
            <a:endParaRPr lang="en-US" sz="11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_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93C5FD"/>
                </a:solidFill>
              </a:rPr>
              <a:t>SIMAWA · Panduan Penggunaan</a:t>
            </a:r>
            <a:endParaRPr lang="en-US" sz="11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93C5F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kor-lingkaran-besar"/>
          <p:cNvSpPr/>
          <p:nvPr/>
        </p:nvSpPr>
        <p:spPr>
          <a:xfrm>
            <a:off x="7955280" y="-548640"/>
            <a:ext cx="5120640" cy="5120640"/>
          </a:xfrm>
          <a:prstGeom prst="ellipse">
            <a:avLst/>
          </a:prstGeom>
          <a:solidFill>
            <a:srgbClr val="1E3A8A">
              <a:alpha val="70000"/>
            </a:srgbClr>
          </a:solidFill>
          <a:ln/>
        </p:spPr>
      </p:sp>
      <p:sp>
        <p:nvSpPr>
          <p:cNvPr id="3" name="dekor-lingkaran-kuning"/>
          <p:cNvSpPr/>
          <p:nvPr/>
        </p:nvSpPr>
        <p:spPr>
          <a:xfrm>
            <a:off x="9692640" y="3657600"/>
            <a:ext cx="2194560" cy="2194560"/>
          </a:xfrm>
          <a:prstGeom prst="ellipse">
            <a:avLst/>
          </a:prstGeom>
          <a:solidFill>
            <a:schemeClr val="accent2"/>
          </a:solidFill>
          <a:ln/>
        </p:spPr>
      </p:sp>
      <p:sp>
        <p:nvSpPr>
          <p:cNvPr id="4" name="latar-ikon-1"/>
          <p:cNvSpPr/>
          <p:nvPr/>
        </p:nvSpPr>
        <p:spPr>
          <a:xfrm>
            <a:off x="813816" y="731520"/>
            <a:ext cx="566928" cy="566928"/>
          </a:xfrm>
          <a:prstGeom prst="roundRect">
            <a:avLst>
              <a:gd name="adj" fmla="val 25000"/>
            </a:avLst>
          </a:prstGeom>
          <a:solidFill>
            <a:schemeClr val="accent1"/>
          </a:solidFill>
          <a:ln/>
        </p:spPr>
      </p:sp>
      <p:pic>
        <p:nvPicPr>
          <p:cNvPr id="5" name="ikon-2" descr="preencoded.png">    </p:cNvPr>
          <p:cNvPicPr>
            <a:picLocks noChangeAspect="1"/>
          </p:cNvPicPr>
          <p:nvPr/>
        </p:nvPicPr>
        <p:blipFill>
          <a:blip r:embed="rId1"/>
          <a:stretch>
            <a:fillRect/>
          </a:stretch>
        </p:blipFill>
        <p:spPr>
          <a:xfrm>
            <a:off x="938540" y="856244"/>
            <a:ext cx="317480" cy="317480"/>
          </a:xfrm>
          <a:prstGeom prst="rect">
            <a:avLst/>
          </a:prstGeom>
        </p:spPr>
      </p:pic>
      <p:sp>
        <p:nvSpPr>
          <p:cNvPr id="6" name="teks-3"/>
          <p:cNvSpPr txBox="1"/>
          <p:nvPr/>
        </p:nvSpPr>
        <p:spPr>
          <a:xfrm>
            <a:off x="1536192" y="731520"/>
            <a:ext cx="3657600" cy="310896"/>
          </a:xfrm>
          <a:prstGeom prst="rect">
            <a:avLst/>
          </a:prstGeom>
          <a:noFill/>
          <a:ln/>
        </p:spPr>
        <p:txBody>
          <a:bodyPr wrap="square" lIns="0" tIns="0" rIns="0" bIns="0" rtlCol="0" anchor="t"/>
          <a:lstStyle/>
          <a:p>
            <a:pPr indent="0" marL="0">
              <a:buNone/>
            </a:pPr>
            <a:r>
              <a:rPr lang="en-US" sz="1800" b="1" spc="200" kern="0" dirty="0">
                <a:solidFill>
                  <a:schemeClr val="bg1"/>
                </a:solidFill>
              </a:rPr>
              <a:t>SIMAWA</a:t>
            </a:r>
            <a:endParaRPr lang="en-US" sz="1800" dirty="0"/>
          </a:p>
        </p:txBody>
      </p:sp>
      <p:sp>
        <p:nvSpPr>
          <p:cNvPr id="7" name="teks-4"/>
          <p:cNvSpPr txBox="1"/>
          <p:nvPr/>
        </p:nvSpPr>
        <p:spPr>
          <a:xfrm>
            <a:off x="1536192" y="1033272"/>
            <a:ext cx="3657600" cy="274320"/>
          </a:xfrm>
          <a:prstGeom prst="rect">
            <a:avLst/>
          </a:prstGeom>
          <a:noFill/>
          <a:ln/>
        </p:spPr>
        <p:txBody>
          <a:bodyPr wrap="square" lIns="0" tIns="0" rIns="0" bIns="0" rtlCol="0" anchor="t"/>
          <a:lstStyle/>
          <a:p>
            <a:pPr indent="0" marL="0">
              <a:buNone/>
            </a:pPr>
            <a:r>
              <a:rPr lang="en-US" sz="1300" dirty="0">
                <a:solidFill>
                  <a:srgbClr val="93C5FD"/>
                </a:solidFill>
              </a:rPr>
              <a:t>Sistem Informasi Mahasiswa</a:t>
            </a:r>
            <a:endParaRPr lang="en-US" sz="1300" dirty="0"/>
          </a:p>
        </p:txBody>
      </p:sp>
      <p:sp>
        <p:nvSpPr>
          <p:cNvPr id="8" name="Text 0"/>
          <p:cNvSpPr/>
          <p:nvPr>
            <p:ph idx="100" type="body" hasCustomPrompt="1"/>
          </p:nvPr>
        </p:nvSpPr>
        <p:spPr>
          <a:xfrm>
            <a:off x="813816" y="2331720"/>
            <a:ext cx="7315200" cy="411480"/>
          </a:xfrm>
          <a:prstGeom prst="rect">
            <a:avLst/>
          </a:prstGeom>
          <a:noFill/>
          <a:ln/>
        </p:spPr>
        <p:txBody>
          <a:bodyPr wrap="square" lIns="0" tIns="0" rIns="0" bIns="0" rtlCol="0" anchor="b"/>
          <a:lstStyle/>
          <a:p>
            <a:pPr indent="0" marL="0">
              <a:buNone/>
            </a:pPr>
            <a:r>
              <a:rPr lang="en-US" sz="1500" b="1" spc="300" kern="0" dirty="0">
                <a:solidFill>
                  <a:schemeClr val="accent2"/>
                </a:solidFill>
              </a:rPr>
              <a:t>PANDUAN PENGGUNAAN</a:t>
            </a:r>
            <a:endParaRPr lang="en-US" sz="1500" dirty="0"/>
          </a:p>
        </p:txBody>
      </p:sp>
      <p:sp>
        <p:nvSpPr>
          <p:cNvPr id="9" name="Text 0"/>
          <p:cNvSpPr/>
          <p:nvPr>
            <p:ph idx="101" type="title" hasCustomPrompt="1"/>
          </p:nvPr>
        </p:nvSpPr>
        <p:spPr>
          <a:xfrm>
            <a:off x="813816" y="2788920"/>
            <a:ext cx="7498080" cy="1783080"/>
          </a:xfrm>
          <a:prstGeom prst="rect">
            <a:avLst/>
          </a:prstGeom>
          <a:noFill/>
          <a:ln/>
        </p:spPr>
        <p:txBody>
          <a:bodyPr wrap="square" lIns="0" tIns="0" rIns="0" bIns="0" rtlCol="0" anchor="t"/>
          <a:lstStyle/>
          <a:p>
            <a:pPr algn="l" indent="0" marL="0">
              <a:lnSpc>
                <a:spcPct val="95000"/>
              </a:lnSpc>
              <a:buNone/>
            </a:pPr>
            <a:r>
              <a:rPr lang="en-US" sz="5200" b="1" dirty="0">
                <a:solidFill>
                  <a:schemeClr val="bg1"/>
                </a:solidFill>
              </a:rPr>
              <a:t>Urusan akademik, satu tempat</a:t>
            </a:r>
            <a:endParaRPr lang="en-US" sz="5200" dirty="0"/>
          </a:p>
        </p:txBody>
      </p:sp>
      <p:sp>
        <p:nvSpPr>
          <p:cNvPr id="10" name="teks-5"/>
          <p:cNvSpPr txBox="1"/>
          <p:nvPr/>
        </p:nvSpPr>
        <p:spPr>
          <a:xfrm>
            <a:off x="813816" y="4663440"/>
            <a:ext cx="6949440" cy="777240"/>
          </a:xfrm>
          <a:prstGeom prst="rect">
            <a:avLst/>
          </a:prstGeom>
          <a:noFill/>
          <a:ln/>
        </p:spPr>
        <p:txBody>
          <a:bodyPr wrap="square" lIns="0" tIns="0" rIns="0" bIns="0" rtlCol="0" anchor="t"/>
          <a:lstStyle/>
          <a:p>
            <a:pPr indent="0" marL="0">
              <a:buNone/>
            </a:pPr>
            <a:r>
              <a:rPr lang="en-US" sz="1800" dirty="0">
                <a:solidFill>
                  <a:srgbClr val="BFDBFE"/>
                </a:solidFill>
              </a:rPr>
              <a:t>Langkah demi langkah memakai SIMAWA: dari login, kontrak KRS, isi EDOM, sampai cetak KHS.</a:t>
            </a:r>
            <a:endParaRPr lang="en-US" sz="1800" dirty="0"/>
          </a:p>
        </p:txBody>
      </p:sp>
      <p:sp>
        <p:nvSpPr>
          <p:cNvPr id="11" name="teks-6"/>
          <p:cNvSpPr txBox="1"/>
          <p:nvPr/>
        </p:nvSpPr>
        <p:spPr>
          <a:xfrm>
            <a:off x="813816" y="6035040"/>
            <a:ext cx="7315200" cy="274320"/>
          </a:xfrm>
          <a:prstGeom prst="rect">
            <a:avLst/>
          </a:prstGeom>
          <a:noFill/>
          <a:ln/>
        </p:spPr>
        <p:txBody>
          <a:bodyPr wrap="square" lIns="0" tIns="0" rIns="0" bIns="0" rtlCol="0" anchor="t"/>
          <a:lstStyle/>
          <a:p>
            <a:pPr indent="0" marL="0">
              <a:buNone/>
            </a:pPr>
            <a:r>
              <a:rPr lang="en-US" sz="1300" dirty="0">
                <a:solidFill>
                  <a:srgbClr val="93C5FD"/>
                </a:solidFill>
              </a:rPr>
              <a:t>Untuk mahasiswa Universitas Muhammadiyah Jambi · Oktober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MENGENAL MENU</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Lima kelompok menu di sidebar</a:t>
            </a:r>
            <a:endParaRPr lang="en-US" sz="3400" dirty="0"/>
          </a:p>
        </p:txBody>
      </p:sp>
      <p:sp>
        <p:nvSpPr>
          <p:cNvPr id="4" name="latar-ikon-7"/>
          <p:cNvSpPr/>
          <p:nvPr/>
        </p:nvSpPr>
        <p:spPr>
          <a:xfrm>
            <a:off x="685800" y="1920240"/>
            <a:ext cx="512064" cy="512064"/>
          </a:xfrm>
          <a:prstGeom prst="roundRect">
            <a:avLst>
              <a:gd name="adj" fmla="val 25000"/>
            </a:avLst>
          </a:prstGeom>
          <a:solidFill>
            <a:schemeClr val="tx2"/>
          </a:solidFill>
          <a:ln/>
        </p:spPr>
      </p:sp>
      <p:pic>
        <p:nvPicPr>
          <p:cNvPr id="5" name="ikon-8" descr="preencoded.png">    </p:cNvPr>
          <p:cNvPicPr>
            <a:picLocks noChangeAspect="1"/>
          </p:cNvPicPr>
          <p:nvPr/>
        </p:nvPicPr>
        <p:blipFill>
          <a:blip r:embed="rId1"/>
          <a:stretch>
            <a:fillRect/>
          </a:stretch>
        </p:blipFill>
        <p:spPr>
          <a:xfrm>
            <a:off x="798454" y="2032894"/>
            <a:ext cx="286756" cy="286756"/>
          </a:xfrm>
          <a:prstGeom prst="rect">
            <a:avLst/>
          </a:prstGeom>
        </p:spPr>
      </p:pic>
      <p:sp>
        <p:nvSpPr>
          <p:cNvPr id="6" name="teks-9"/>
          <p:cNvSpPr txBox="1"/>
          <p:nvPr/>
        </p:nvSpPr>
        <p:spPr>
          <a:xfrm>
            <a:off x="1371600" y="1901952"/>
            <a:ext cx="5486400" cy="292608"/>
          </a:xfrm>
          <a:prstGeom prst="rect">
            <a:avLst/>
          </a:prstGeom>
          <a:noFill/>
          <a:ln/>
        </p:spPr>
        <p:txBody>
          <a:bodyPr wrap="square" lIns="0" tIns="0" rIns="0" bIns="0" rtlCol="0" anchor="t"/>
          <a:lstStyle/>
          <a:p>
            <a:pPr indent="0" marL="0">
              <a:buNone/>
            </a:pPr>
            <a:r>
              <a:rPr lang="en-US" sz="1600" b="1" dirty="0">
                <a:solidFill>
                  <a:schemeClr val="tx1"/>
                </a:solidFill>
              </a:rPr>
              <a:t>Dashboard</a:t>
            </a:r>
            <a:endParaRPr lang="en-US" sz="1600" dirty="0"/>
          </a:p>
        </p:txBody>
      </p:sp>
      <p:sp>
        <p:nvSpPr>
          <p:cNvPr id="7" name="teks-10"/>
          <p:cNvSpPr txBox="1"/>
          <p:nvPr/>
        </p:nvSpPr>
        <p:spPr>
          <a:xfrm>
            <a:off x="1371600" y="2194560"/>
            <a:ext cx="5669280" cy="274320"/>
          </a:xfrm>
          <a:prstGeom prst="rect">
            <a:avLst/>
          </a:prstGeom>
          <a:noFill/>
          <a:ln/>
        </p:spPr>
        <p:txBody>
          <a:bodyPr wrap="square" lIns="0" tIns="0" rIns="0" bIns="0" rtlCol="0" anchor="t"/>
          <a:lstStyle/>
          <a:p>
            <a:pPr indent="0" marL="0">
              <a:buNone/>
            </a:pPr>
            <a:r>
              <a:rPr lang="en-US" sz="1300" dirty="0">
                <a:solidFill>
                  <a:schemeClr val="accent6"/>
                </a:solidFill>
              </a:rPr>
              <a:t>Profil, grafik IPK, tagihan tahun ini</a:t>
            </a:r>
            <a:endParaRPr lang="en-US" sz="1300" dirty="0"/>
          </a:p>
        </p:txBody>
      </p:sp>
      <p:sp>
        <p:nvSpPr>
          <p:cNvPr id="8" name="latar-ikon-11"/>
          <p:cNvSpPr/>
          <p:nvPr/>
        </p:nvSpPr>
        <p:spPr>
          <a:xfrm>
            <a:off x="685800" y="2633472"/>
            <a:ext cx="512064" cy="512064"/>
          </a:xfrm>
          <a:prstGeom prst="roundRect">
            <a:avLst>
              <a:gd name="adj" fmla="val 25000"/>
            </a:avLst>
          </a:prstGeom>
          <a:solidFill>
            <a:srgbClr val="DBEAFE"/>
          </a:solidFill>
          <a:ln/>
        </p:spPr>
      </p:sp>
      <p:pic>
        <p:nvPicPr>
          <p:cNvPr id="9" name="ikon-12" descr="preencoded.png">    </p:cNvPr>
          <p:cNvPicPr>
            <a:picLocks noChangeAspect="1"/>
          </p:cNvPicPr>
          <p:nvPr/>
        </p:nvPicPr>
        <p:blipFill>
          <a:blip r:embed="rId2"/>
          <a:stretch>
            <a:fillRect/>
          </a:stretch>
        </p:blipFill>
        <p:spPr>
          <a:xfrm>
            <a:off x="798454" y="2746126"/>
            <a:ext cx="286756" cy="286756"/>
          </a:xfrm>
          <a:prstGeom prst="rect">
            <a:avLst/>
          </a:prstGeom>
        </p:spPr>
      </p:pic>
      <p:sp>
        <p:nvSpPr>
          <p:cNvPr id="10" name="teks-13"/>
          <p:cNvSpPr txBox="1"/>
          <p:nvPr/>
        </p:nvSpPr>
        <p:spPr>
          <a:xfrm>
            <a:off x="1371600" y="2615184"/>
            <a:ext cx="5486400" cy="292608"/>
          </a:xfrm>
          <a:prstGeom prst="rect">
            <a:avLst/>
          </a:prstGeom>
          <a:noFill/>
          <a:ln/>
        </p:spPr>
        <p:txBody>
          <a:bodyPr wrap="square" lIns="0" tIns="0" rIns="0" bIns="0" rtlCol="0" anchor="t"/>
          <a:lstStyle/>
          <a:p>
            <a:pPr indent="0" marL="0">
              <a:buNone/>
            </a:pPr>
            <a:r>
              <a:rPr lang="en-US" sz="1600" b="1" dirty="0">
                <a:solidFill>
                  <a:schemeClr val="tx1"/>
                </a:solidFill>
              </a:rPr>
              <a:t>Akademik</a:t>
            </a:r>
            <a:endParaRPr lang="en-US" sz="1600" dirty="0"/>
          </a:p>
        </p:txBody>
      </p:sp>
      <p:sp>
        <p:nvSpPr>
          <p:cNvPr id="11" name="teks-14"/>
          <p:cNvSpPr txBox="1"/>
          <p:nvPr/>
        </p:nvSpPr>
        <p:spPr>
          <a:xfrm>
            <a:off x="1371600" y="2907792"/>
            <a:ext cx="5669280" cy="274320"/>
          </a:xfrm>
          <a:prstGeom prst="rect">
            <a:avLst/>
          </a:prstGeom>
          <a:noFill/>
          <a:ln/>
        </p:spPr>
        <p:txBody>
          <a:bodyPr wrap="square" lIns="0" tIns="0" rIns="0" bIns="0" rtlCol="0" anchor="t"/>
          <a:lstStyle/>
          <a:p>
            <a:pPr indent="0" marL="0">
              <a:buNone/>
            </a:pPr>
            <a:r>
              <a:rPr lang="en-US" sz="1300" dirty="0">
                <a:solidFill>
                  <a:schemeClr val="accent6"/>
                </a:solidFill>
              </a:rPr>
              <a:t>Jadwal Kuliah, KRS, KHS, Transkrip Nilai (segera)</a:t>
            </a:r>
            <a:endParaRPr lang="en-US" sz="1300" dirty="0"/>
          </a:p>
        </p:txBody>
      </p:sp>
      <p:sp>
        <p:nvSpPr>
          <p:cNvPr id="12" name="latar-ikon-15"/>
          <p:cNvSpPr/>
          <p:nvPr/>
        </p:nvSpPr>
        <p:spPr>
          <a:xfrm>
            <a:off x="685800" y="3346704"/>
            <a:ext cx="512064" cy="512064"/>
          </a:xfrm>
          <a:prstGeom prst="roundRect">
            <a:avLst>
              <a:gd name="adj" fmla="val 25000"/>
            </a:avLst>
          </a:prstGeom>
          <a:solidFill>
            <a:srgbClr val="DBEAFE"/>
          </a:solidFill>
          <a:ln/>
        </p:spPr>
      </p:sp>
      <p:pic>
        <p:nvPicPr>
          <p:cNvPr id="13" name="ikon-16" descr="preencoded.png">    </p:cNvPr>
          <p:cNvPicPr>
            <a:picLocks noChangeAspect="1"/>
          </p:cNvPicPr>
          <p:nvPr/>
        </p:nvPicPr>
        <p:blipFill>
          <a:blip r:embed="rId3"/>
          <a:stretch>
            <a:fillRect/>
          </a:stretch>
        </p:blipFill>
        <p:spPr>
          <a:xfrm>
            <a:off x="798454" y="3459358"/>
            <a:ext cx="286756" cy="286756"/>
          </a:xfrm>
          <a:prstGeom prst="rect">
            <a:avLst/>
          </a:prstGeom>
        </p:spPr>
      </p:pic>
      <p:sp>
        <p:nvSpPr>
          <p:cNvPr id="14" name="teks-17"/>
          <p:cNvSpPr txBox="1"/>
          <p:nvPr/>
        </p:nvSpPr>
        <p:spPr>
          <a:xfrm>
            <a:off x="1371600" y="3328416"/>
            <a:ext cx="5486400" cy="292608"/>
          </a:xfrm>
          <a:prstGeom prst="rect">
            <a:avLst/>
          </a:prstGeom>
          <a:noFill/>
          <a:ln/>
        </p:spPr>
        <p:txBody>
          <a:bodyPr wrap="square" lIns="0" tIns="0" rIns="0" bIns="0" rtlCol="0" anchor="t"/>
          <a:lstStyle/>
          <a:p>
            <a:pPr indent="0" marL="0">
              <a:buNone/>
            </a:pPr>
            <a:r>
              <a:rPr lang="en-US" sz="1600" b="1" dirty="0">
                <a:solidFill>
                  <a:schemeClr val="tx1"/>
                </a:solidFill>
              </a:rPr>
              <a:t>Pendaftaran</a:t>
            </a:r>
            <a:endParaRPr lang="en-US" sz="1600" dirty="0"/>
          </a:p>
        </p:txBody>
      </p:sp>
      <p:sp>
        <p:nvSpPr>
          <p:cNvPr id="15" name="teks-18"/>
          <p:cNvSpPr txBox="1"/>
          <p:nvPr/>
        </p:nvSpPr>
        <p:spPr>
          <a:xfrm>
            <a:off x="1371600" y="3621024"/>
            <a:ext cx="5669280" cy="274320"/>
          </a:xfrm>
          <a:prstGeom prst="rect">
            <a:avLst/>
          </a:prstGeom>
          <a:noFill/>
          <a:ln/>
        </p:spPr>
        <p:txBody>
          <a:bodyPr wrap="square" lIns="0" tIns="0" rIns="0" bIns="0" rtlCol="0" anchor="t"/>
          <a:lstStyle/>
          <a:p>
            <a:pPr indent="0" marL="0">
              <a:buNone/>
            </a:pPr>
            <a:r>
              <a:rPr lang="en-US" sz="1300" dirty="0">
                <a:solidFill>
                  <a:schemeClr val="accent6"/>
                </a:solidFill>
              </a:rPr>
              <a:t>KKN, PKL, Seminar Proposal, Sidang Tugas Akhir</a:t>
            </a:r>
            <a:endParaRPr lang="en-US" sz="1300" dirty="0"/>
          </a:p>
        </p:txBody>
      </p:sp>
      <p:sp>
        <p:nvSpPr>
          <p:cNvPr id="16" name="latar-ikon-19"/>
          <p:cNvSpPr/>
          <p:nvPr/>
        </p:nvSpPr>
        <p:spPr>
          <a:xfrm>
            <a:off x="685800" y="4059936"/>
            <a:ext cx="512064" cy="512064"/>
          </a:xfrm>
          <a:prstGeom prst="roundRect">
            <a:avLst>
              <a:gd name="adj" fmla="val 25000"/>
            </a:avLst>
          </a:prstGeom>
          <a:solidFill>
            <a:srgbClr val="DBEAFE"/>
          </a:solidFill>
          <a:ln/>
        </p:spPr>
      </p:sp>
      <p:pic>
        <p:nvPicPr>
          <p:cNvPr id="17" name="ikon-20" descr="preencoded.png">    </p:cNvPr>
          <p:cNvPicPr>
            <a:picLocks noChangeAspect="1"/>
          </p:cNvPicPr>
          <p:nvPr/>
        </p:nvPicPr>
        <p:blipFill>
          <a:blip r:embed="rId4"/>
          <a:stretch>
            <a:fillRect/>
          </a:stretch>
        </p:blipFill>
        <p:spPr>
          <a:xfrm>
            <a:off x="798454" y="4172590"/>
            <a:ext cx="286756" cy="286756"/>
          </a:xfrm>
          <a:prstGeom prst="rect">
            <a:avLst/>
          </a:prstGeom>
        </p:spPr>
      </p:pic>
      <p:sp>
        <p:nvSpPr>
          <p:cNvPr id="18" name="teks-21"/>
          <p:cNvSpPr txBox="1"/>
          <p:nvPr/>
        </p:nvSpPr>
        <p:spPr>
          <a:xfrm>
            <a:off x="1371600" y="4041648"/>
            <a:ext cx="5486400" cy="292608"/>
          </a:xfrm>
          <a:prstGeom prst="rect">
            <a:avLst/>
          </a:prstGeom>
          <a:noFill/>
          <a:ln/>
        </p:spPr>
        <p:txBody>
          <a:bodyPr wrap="square" lIns="0" tIns="0" rIns="0" bIns="0" rtlCol="0" anchor="t"/>
          <a:lstStyle/>
          <a:p>
            <a:pPr indent="0" marL="0">
              <a:buNone/>
            </a:pPr>
            <a:r>
              <a:rPr lang="en-US" sz="1600" b="1" dirty="0">
                <a:solidFill>
                  <a:schemeClr val="tx1"/>
                </a:solidFill>
              </a:rPr>
              <a:t>Keuangan</a:t>
            </a:r>
            <a:endParaRPr lang="en-US" sz="1600" dirty="0"/>
          </a:p>
        </p:txBody>
      </p:sp>
      <p:sp>
        <p:nvSpPr>
          <p:cNvPr id="19" name="teks-22"/>
          <p:cNvSpPr txBox="1"/>
          <p:nvPr/>
        </p:nvSpPr>
        <p:spPr>
          <a:xfrm>
            <a:off x="1371600" y="4334256"/>
            <a:ext cx="5669280" cy="274320"/>
          </a:xfrm>
          <a:prstGeom prst="rect">
            <a:avLst/>
          </a:prstGeom>
          <a:noFill/>
          <a:ln/>
        </p:spPr>
        <p:txBody>
          <a:bodyPr wrap="square" lIns="0" tIns="0" rIns="0" bIns="0" rtlCol="0" anchor="t"/>
          <a:lstStyle/>
          <a:p>
            <a:pPr indent="0" marL="0">
              <a:buNone/>
            </a:pPr>
            <a:r>
              <a:rPr lang="en-US" sz="1300" dirty="0">
                <a:solidFill>
                  <a:schemeClr val="accent6"/>
                </a:solidFill>
              </a:rPr>
              <a:t>Riwayat Tagihan</a:t>
            </a:r>
            <a:endParaRPr lang="en-US" sz="1300" dirty="0"/>
          </a:p>
        </p:txBody>
      </p:sp>
      <p:sp>
        <p:nvSpPr>
          <p:cNvPr id="20" name="latar-ikon-23"/>
          <p:cNvSpPr/>
          <p:nvPr/>
        </p:nvSpPr>
        <p:spPr>
          <a:xfrm>
            <a:off x="685800" y="4773168"/>
            <a:ext cx="512064" cy="512064"/>
          </a:xfrm>
          <a:prstGeom prst="roundRect">
            <a:avLst>
              <a:gd name="adj" fmla="val 25000"/>
            </a:avLst>
          </a:prstGeom>
          <a:solidFill>
            <a:srgbClr val="DBEAFE"/>
          </a:solidFill>
          <a:ln/>
        </p:spPr>
      </p:sp>
      <p:pic>
        <p:nvPicPr>
          <p:cNvPr id="21" name="ikon-24" descr="preencoded.png">    </p:cNvPr>
          <p:cNvPicPr>
            <a:picLocks noChangeAspect="1"/>
          </p:cNvPicPr>
          <p:nvPr/>
        </p:nvPicPr>
        <p:blipFill>
          <a:blip r:embed="rId5"/>
          <a:stretch>
            <a:fillRect/>
          </a:stretch>
        </p:blipFill>
        <p:spPr>
          <a:xfrm>
            <a:off x="798454" y="4885822"/>
            <a:ext cx="286756" cy="286756"/>
          </a:xfrm>
          <a:prstGeom prst="rect">
            <a:avLst/>
          </a:prstGeom>
        </p:spPr>
      </p:pic>
      <p:sp>
        <p:nvSpPr>
          <p:cNvPr id="22" name="teks-25"/>
          <p:cNvSpPr txBox="1"/>
          <p:nvPr/>
        </p:nvSpPr>
        <p:spPr>
          <a:xfrm>
            <a:off x="1371600" y="4754880"/>
            <a:ext cx="5486400" cy="292608"/>
          </a:xfrm>
          <a:prstGeom prst="rect">
            <a:avLst/>
          </a:prstGeom>
          <a:noFill/>
          <a:ln/>
        </p:spPr>
        <p:txBody>
          <a:bodyPr wrap="square" lIns="0" tIns="0" rIns="0" bIns="0" rtlCol="0" anchor="t"/>
          <a:lstStyle/>
          <a:p>
            <a:pPr indent="0" marL="0">
              <a:buNone/>
            </a:pPr>
            <a:r>
              <a:rPr lang="en-US" sz="1600" b="1" dirty="0">
                <a:solidFill>
                  <a:schemeClr val="tx1"/>
                </a:solidFill>
              </a:rPr>
              <a:t>Lainnya</a:t>
            </a:r>
            <a:endParaRPr lang="en-US" sz="1600" dirty="0"/>
          </a:p>
        </p:txBody>
      </p:sp>
      <p:sp>
        <p:nvSpPr>
          <p:cNvPr id="23" name="teks-26"/>
          <p:cNvSpPr txBox="1"/>
          <p:nvPr/>
        </p:nvSpPr>
        <p:spPr>
          <a:xfrm>
            <a:off x="1371600" y="5047488"/>
            <a:ext cx="5669280" cy="274320"/>
          </a:xfrm>
          <a:prstGeom prst="rect">
            <a:avLst/>
          </a:prstGeom>
          <a:noFill/>
          <a:ln/>
        </p:spPr>
        <p:txBody>
          <a:bodyPr wrap="square" lIns="0" tIns="0" rIns="0" bIns="0" rtlCol="0" anchor="t"/>
          <a:lstStyle/>
          <a:p>
            <a:pPr indent="0" marL="0">
              <a:buNone/>
            </a:pPr>
            <a:r>
              <a:rPr lang="en-US" sz="1300" dirty="0">
                <a:solidFill>
                  <a:schemeClr val="accent6"/>
                </a:solidFill>
              </a:rPr>
              <a:t>Riwayat Beasiswa</a:t>
            </a:r>
            <a:endParaRPr lang="en-US" sz="1300" dirty="0"/>
          </a:p>
        </p:txBody>
      </p:sp>
      <p:sp>
        <p:nvSpPr>
          <p:cNvPr id="24" name="callout-27"/>
          <p:cNvSpPr/>
          <p:nvPr/>
        </p:nvSpPr>
        <p:spPr>
          <a:xfrm>
            <a:off x="685800" y="5532120"/>
            <a:ext cx="6309360" cy="640080"/>
          </a:xfrm>
          <a:prstGeom prst="roundRect">
            <a:avLst>
              <a:gd name="adj" fmla="val 17143"/>
            </a:avLst>
          </a:prstGeom>
          <a:solidFill>
            <a:srgbClr val="FEF3C7"/>
          </a:solidFill>
          <a:ln/>
        </p:spPr>
      </p:sp>
      <p:pic>
        <p:nvPicPr>
          <p:cNvPr id="25" name="ikon-28" descr="preencoded.png">    </p:cNvPr>
          <p:cNvPicPr>
            <a:picLocks noChangeAspect="1"/>
          </p:cNvPicPr>
          <p:nvPr/>
        </p:nvPicPr>
        <p:blipFill>
          <a:blip r:embed="rId6"/>
          <a:stretch>
            <a:fillRect/>
          </a:stretch>
        </p:blipFill>
        <p:spPr>
          <a:xfrm>
            <a:off x="914400" y="5687568"/>
            <a:ext cx="329184" cy="329184"/>
          </a:xfrm>
          <a:prstGeom prst="rect">
            <a:avLst/>
          </a:prstGeom>
        </p:spPr>
      </p:pic>
      <p:sp>
        <p:nvSpPr>
          <p:cNvPr id="26" name="teks-29"/>
          <p:cNvSpPr txBox="1"/>
          <p:nvPr/>
        </p:nvSpPr>
        <p:spPr>
          <a:xfrm>
            <a:off x="1417320" y="5532120"/>
            <a:ext cx="5394960" cy="640080"/>
          </a:xfrm>
          <a:prstGeom prst="rect">
            <a:avLst/>
          </a:prstGeom>
          <a:noFill/>
          <a:ln/>
        </p:spPr>
        <p:txBody>
          <a:bodyPr wrap="square" lIns="0" tIns="0" rIns="0" bIns="0" rtlCol="0" anchor="ctr"/>
          <a:lstStyle/>
          <a:p>
            <a:pPr indent="0" marL="0">
              <a:buNone/>
            </a:pPr>
            <a:r>
              <a:rPr lang="en-US" sz="1400" dirty="0">
                <a:solidFill>
                  <a:srgbClr val="78350F"/>
                </a:solidFill>
              </a:rPr>
              <a:t>Di HP, buka menu lewat ikon </a:t>
            </a:r>
            <a:pPr indent="0" marL="0">
              <a:buNone/>
            </a:pPr>
            <a:r>
              <a:rPr lang="en-US" sz="1400" b="1" dirty="0">
                <a:solidFill>
                  <a:srgbClr val="78350F"/>
                </a:solidFill>
              </a:rPr>
              <a:t>garis tiga</a:t>
            </a:r>
            <a:pPr indent="0" marL="0">
              <a:buNone/>
            </a:pPr>
            <a:r>
              <a:rPr lang="en-US" sz="1400" dirty="0">
                <a:solidFill>
                  <a:srgbClr val="78350F"/>
                </a:solidFill>
              </a:rPr>
              <a:t> di kiri atas. Klik </a:t>
            </a:r>
            <a:pPr indent="0" marL="0">
              <a:buNone/>
            </a:pPr>
            <a:r>
              <a:rPr lang="en-US" sz="1400" b="1" dirty="0">
                <a:solidFill>
                  <a:srgbClr val="78350F"/>
                </a:solidFill>
              </a:rPr>
              <a:t>nama Anda</a:t>
            </a:r>
            <a:pPr indent="0" marL="0">
              <a:buNone/>
            </a:pPr>
            <a:r>
              <a:rPr lang="en-US" sz="1400" dirty="0">
                <a:solidFill>
                  <a:srgbClr val="78350F"/>
                </a:solidFill>
              </a:rPr>
              <a:t> di kanan atas untuk menu akun &amp; Logout.</a:t>
            </a:r>
            <a:endParaRPr lang="en-US" sz="1400" dirty="0"/>
          </a:p>
        </p:txBody>
      </p:sp>
      <p:sp>
        <p:nvSpPr>
          <p:cNvPr id="27" name="bingkai-30"/>
          <p:cNvSpPr/>
          <p:nvPr/>
        </p:nvSpPr>
        <p:spPr>
          <a:xfrm>
            <a:off x="7315200" y="1828800"/>
            <a:ext cx="2011680" cy="4247036"/>
          </a:xfrm>
          <a:prstGeom prst="roundRect">
            <a:avLst>
              <a:gd name="adj" fmla="val 3636"/>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28" name="screenshot-31" descr="Tampilan dashboard SIMAWA di HP">    </p:cNvPr>
          <p:cNvPicPr>
            <a:picLocks noChangeAspect="1"/>
          </p:cNvPicPr>
          <p:nvPr/>
        </p:nvPicPr>
        <p:blipFill>
          <a:blip r:embed="rId7"/>
          <a:stretch>
            <a:fillRect/>
          </a:stretch>
        </p:blipFill>
        <p:spPr>
          <a:xfrm>
            <a:off x="7360920" y="1874520"/>
            <a:ext cx="1920240" cy="4155596"/>
          </a:xfrm>
          <a:prstGeom prst="rect">
            <a:avLst/>
          </a:prstGeom>
        </p:spPr>
      </p:pic>
      <p:sp>
        <p:nvSpPr>
          <p:cNvPr id="29" name="bingkai-32"/>
          <p:cNvSpPr/>
          <p:nvPr/>
        </p:nvSpPr>
        <p:spPr>
          <a:xfrm>
            <a:off x="9509760" y="1828800"/>
            <a:ext cx="2011680" cy="4247036"/>
          </a:xfrm>
          <a:prstGeom prst="roundRect">
            <a:avLst>
              <a:gd name="adj" fmla="val 3636"/>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30" name="screenshot-33" descr="Menu SIMAWA terbuka di HP">    </p:cNvPr>
          <p:cNvPicPr>
            <a:picLocks noChangeAspect="1"/>
          </p:cNvPicPr>
          <p:nvPr/>
        </p:nvPicPr>
        <p:blipFill>
          <a:blip r:embed="rId8"/>
          <a:stretch>
            <a:fillRect/>
          </a:stretch>
        </p:blipFill>
        <p:spPr>
          <a:xfrm>
            <a:off x="9555480" y="1874520"/>
            <a:ext cx="1920240" cy="4155596"/>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LANGKAH 1 · MASUK</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Login dengan NPM dan password</a:t>
            </a:r>
            <a:endParaRPr lang="en-US" sz="3400" dirty="0"/>
          </a:p>
        </p:txBody>
      </p:sp>
      <p:sp>
        <p:nvSpPr>
          <p:cNvPr id="4" name="nomor-34"/>
          <p:cNvSpPr/>
          <p:nvPr/>
        </p:nvSpPr>
        <p:spPr>
          <a:xfrm>
            <a:off x="685800" y="2011680"/>
            <a:ext cx="438912" cy="438912"/>
          </a:xfrm>
          <a:prstGeom prst="ellipse">
            <a:avLst/>
          </a:prstGeom>
          <a:solidFill>
            <a:schemeClr val="accent1"/>
          </a:solidFill>
          <a:ln/>
        </p:spPr>
      </p:sp>
      <p:sp>
        <p:nvSpPr>
          <p:cNvPr id="5" name="teks-35"/>
          <p:cNvSpPr txBox="1"/>
          <p:nvPr/>
        </p:nvSpPr>
        <p:spPr>
          <a:xfrm>
            <a:off x="685800" y="20116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ks-36"/>
          <p:cNvSpPr txBox="1"/>
          <p:nvPr/>
        </p:nvSpPr>
        <p:spPr>
          <a:xfrm>
            <a:off x="1325880" y="1993392"/>
            <a:ext cx="3337560" cy="347472"/>
          </a:xfrm>
          <a:prstGeom prst="rect">
            <a:avLst/>
          </a:prstGeom>
          <a:noFill/>
          <a:ln/>
        </p:spPr>
        <p:txBody>
          <a:bodyPr wrap="square" lIns="0" tIns="0" rIns="0" bIns="0" rtlCol="0" anchor="t"/>
          <a:lstStyle/>
          <a:p>
            <a:pPr indent="0" marL="0">
              <a:buNone/>
            </a:pPr>
            <a:r>
              <a:rPr lang="en-US" sz="1800" b="1" dirty="0">
                <a:solidFill>
                  <a:schemeClr val="tx1"/>
                </a:solidFill>
              </a:rPr>
              <a:t>Isi NPM</a:t>
            </a:r>
            <a:endParaRPr lang="en-US" sz="1800" dirty="0"/>
          </a:p>
        </p:txBody>
      </p:sp>
      <p:sp>
        <p:nvSpPr>
          <p:cNvPr id="7" name="teks-37"/>
          <p:cNvSpPr txBox="1"/>
          <p:nvPr/>
        </p:nvSpPr>
        <p:spPr>
          <a:xfrm>
            <a:off x="1325880" y="235915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Nomor Pokok Mahasiswa, tanpa spasi.</a:t>
            </a:r>
            <a:endParaRPr lang="en-US" sz="1400" dirty="0"/>
          </a:p>
        </p:txBody>
      </p:sp>
      <p:sp>
        <p:nvSpPr>
          <p:cNvPr id="8" name="nomor-38"/>
          <p:cNvSpPr/>
          <p:nvPr/>
        </p:nvSpPr>
        <p:spPr>
          <a:xfrm>
            <a:off x="685800" y="2834640"/>
            <a:ext cx="438912" cy="438912"/>
          </a:xfrm>
          <a:prstGeom prst="ellipse">
            <a:avLst/>
          </a:prstGeom>
          <a:solidFill>
            <a:schemeClr val="accent1"/>
          </a:solidFill>
          <a:ln/>
        </p:spPr>
      </p:sp>
      <p:sp>
        <p:nvSpPr>
          <p:cNvPr id="9" name="teks-39"/>
          <p:cNvSpPr txBox="1"/>
          <p:nvPr/>
        </p:nvSpPr>
        <p:spPr>
          <a:xfrm>
            <a:off x="685800" y="28346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ks-40"/>
          <p:cNvSpPr txBox="1"/>
          <p:nvPr/>
        </p:nvSpPr>
        <p:spPr>
          <a:xfrm>
            <a:off x="1325880" y="2816352"/>
            <a:ext cx="3337560" cy="347472"/>
          </a:xfrm>
          <a:prstGeom prst="rect">
            <a:avLst/>
          </a:prstGeom>
          <a:noFill/>
          <a:ln/>
        </p:spPr>
        <p:txBody>
          <a:bodyPr wrap="square" lIns="0" tIns="0" rIns="0" bIns="0" rtlCol="0" anchor="t"/>
          <a:lstStyle/>
          <a:p>
            <a:pPr indent="0" marL="0">
              <a:buNone/>
            </a:pPr>
            <a:r>
              <a:rPr lang="en-US" sz="1800" b="1" dirty="0">
                <a:solidFill>
                  <a:schemeClr val="tx1"/>
                </a:solidFill>
              </a:rPr>
              <a:t>Isi password</a:t>
            </a:r>
            <a:endParaRPr lang="en-US" sz="1800" dirty="0"/>
          </a:p>
        </p:txBody>
      </p:sp>
      <p:sp>
        <p:nvSpPr>
          <p:cNvPr id="11" name="teks-41"/>
          <p:cNvSpPr txBox="1"/>
          <p:nvPr/>
        </p:nvSpPr>
        <p:spPr>
          <a:xfrm>
            <a:off x="1325880" y="318211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Ikon mata: tampilkan / sembunyikan.</a:t>
            </a:r>
            <a:endParaRPr lang="en-US" sz="1400" dirty="0"/>
          </a:p>
        </p:txBody>
      </p:sp>
      <p:sp>
        <p:nvSpPr>
          <p:cNvPr id="12" name="nomor-42"/>
          <p:cNvSpPr/>
          <p:nvPr/>
        </p:nvSpPr>
        <p:spPr>
          <a:xfrm>
            <a:off x="685800" y="3657600"/>
            <a:ext cx="438912" cy="438912"/>
          </a:xfrm>
          <a:prstGeom prst="ellipse">
            <a:avLst/>
          </a:prstGeom>
          <a:solidFill>
            <a:schemeClr val="accent1"/>
          </a:solidFill>
          <a:ln/>
        </p:spPr>
      </p:sp>
      <p:sp>
        <p:nvSpPr>
          <p:cNvPr id="13" name="teks-43"/>
          <p:cNvSpPr txBox="1"/>
          <p:nvPr/>
        </p:nvSpPr>
        <p:spPr>
          <a:xfrm>
            <a:off x="685800" y="36576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ks-44"/>
          <p:cNvSpPr txBox="1"/>
          <p:nvPr/>
        </p:nvSpPr>
        <p:spPr>
          <a:xfrm>
            <a:off x="1325880" y="3639312"/>
            <a:ext cx="3337560" cy="347472"/>
          </a:xfrm>
          <a:prstGeom prst="rect">
            <a:avLst/>
          </a:prstGeom>
          <a:noFill/>
          <a:ln/>
        </p:spPr>
        <p:txBody>
          <a:bodyPr wrap="square" lIns="0" tIns="0" rIns="0" bIns="0" rtlCol="0" anchor="t"/>
          <a:lstStyle/>
          <a:p>
            <a:pPr indent="0" marL="0">
              <a:buNone/>
            </a:pPr>
            <a:r>
              <a:rPr lang="en-US" sz="1800" b="1" dirty="0">
                <a:solidFill>
                  <a:schemeClr val="tx1"/>
                </a:solidFill>
              </a:rPr>
              <a:t>Klik Masuk</a:t>
            </a:r>
            <a:endParaRPr lang="en-US" sz="1800" dirty="0"/>
          </a:p>
        </p:txBody>
      </p:sp>
      <p:sp>
        <p:nvSpPr>
          <p:cNvPr id="15" name="teks-45"/>
          <p:cNvSpPr txBox="1"/>
          <p:nvPr/>
        </p:nvSpPr>
        <p:spPr>
          <a:xfrm>
            <a:off x="1325880" y="400507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Tunggu “Memverifikasi akun Anda...”.</a:t>
            </a:r>
            <a:endParaRPr lang="en-US" sz="1400" dirty="0"/>
          </a:p>
        </p:txBody>
      </p:sp>
      <p:sp>
        <p:nvSpPr>
          <p:cNvPr id="16" name="callout-46"/>
          <p:cNvSpPr/>
          <p:nvPr/>
        </p:nvSpPr>
        <p:spPr>
          <a:xfrm>
            <a:off x="685800" y="4617720"/>
            <a:ext cx="3977640" cy="822960"/>
          </a:xfrm>
          <a:prstGeom prst="roundRect">
            <a:avLst>
              <a:gd name="adj" fmla="val 13333"/>
            </a:avLst>
          </a:prstGeom>
          <a:solidFill>
            <a:srgbClr val="FEE2E2"/>
          </a:solidFill>
          <a:ln/>
        </p:spPr>
      </p:sp>
      <p:pic>
        <p:nvPicPr>
          <p:cNvPr id="17" name="ikon-47" descr="preencoded.png">    </p:cNvPr>
          <p:cNvPicPr>
            <a:picLocks noChangeAspect="1"/>
          </p:cNvPicPr>
          <p:nvPr/>
        </p:nvPicPr>
        <p:blipFill>
          <a:blip r:embed="rId1"/>
          <a:stretch>
            <a:fillRect/>
          </a:stretch>
        </p:blipFill>
        <p:spPr>
          <a:xfrm>
            <a:off x="914400" y="4864608"/>
            <a:ext cx="329184" cy="329184"/>
          </a:xfrm>
          <a:prstGeom prst="rect">
            <a:avLst/>
          </a:prstGeom>
        </p:spPr>
      </p:pic>
      <p:sp>
        <p:nvSpPr>
          <p:cNvPr id="18" name="teks-48"/>
          <p:cNvSpPr txBox="1"/>
          <p:nvPr/>
        </p:nvSpPr>
        <p:spPr>
          <a:xfrm>
            <a:off x="1417320" y="4617720"/>
            <a:ext cx="3063240" cy="822960"/>
          </a:xfrm>
          <a:prstGeom prst="rect">
            <a:avLst/>
          </a:prstGeom>
          <a:noFill/>
          <a:ln/>
        </p:spPr>
        <p:txBody>
          <a:bodyPr wrap="square" lIns="0" tIns="0" rIns="0" bIns="0" rtlCol="0" anchor="ctr"/>
          <a:lstStyle/>
          <a:p>
            <a:pPr indent="0" marL="0">
              <a:buNone/>
            </a:pPr>
            <a:r>
              <a:rPr lang="en-US" sz="1400" dirty="0">
                <a:solidFill>
                  <a:srgbClr val="7F1D1D"/>
                </a:solidFill>
              </a:rPr>
              <a:t>Salah berkali-kali? Login dikunci sementara dengan </a:t>
            </a:r>
            <a:pPr indent="0" marL="0">
              <a:buNone/>
            </a:pPr>
            <a:r>
              <a:rPr lang="en-US" sz="1400" b="1" dirty="0">
                <a:solidFill>
                  <a:srgbClr val="7F1D1D"/>
                </a:solidFill>
              </a:rPr>
              <a:t>hitung mundur</a:t>
            </a:r>
            <a:pPr indent="0" marL="0">
              <a:buNone/>
            </a:pPr>
            <a:r>
              <a:rPr lang="en-US" sz="1400" dirty="0">
                <a:solidFill>
                  <a:srgbClr val="7F1D1D"/>
                </a:solidFill>
              </a:rPr>
              <a:t>.</a:t>
            </a:r>
            <a:endParaRPr lang="en-US" sz="1400" dirty="0"/>
          </a:p>
        </p:txBody>
      </p:sp>
      <p:sp>
        <p:nvSpPr>
          <p:cNvPr id="19" name="bingkai-49"/>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20" name="screenshot-50" descr="Halaman login SIMAWA">    </p:cNvPr>
          <p:cNvPicPr>
            <a:picLocks noChangeAspect="1"/>
          </p:cNvPicPr>
          <p:nvPr/>
        </p:nvPicPr>
        <p:blipFill>
          <a:blip r:embed="rId2"/>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LANGKAH 2 · DASHBOARD</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Dashboard: ringkasan akademik Anda</a:t>
            </a:r>
            <a:endParaRPr lang="en-US" sz="3400" dirty="0"/>
          </a:p>
        </p:txBody>
      </p:sp>
      <p:sp>
        <p:nvSpPr>
          <p:cNvPr id="4" name="poin-51"/>
          <p:cNvSpPr/>
          <p:nvPr/>
        </p:nvSpPr>
        <p:spPr>
          <a:xfrm>
            <a:off x="685800" y="2020824"/>
            <a:ext cx="128016" cy="128016"/>
          </a:xfrm>
          <a:prstGeom prst="ellipse">
            <a:avLst/>
          </a:prstGeom>
          <a:solidFill>
            <a:schemeClr val="accent2"/>
          </a:solidFill>
          <a:ln/>
        </p:spPr>
      </p:sp>
      <p:sp>
        <p:nvSpPr>
          <p:cNvPr id="5" name="teks-52"/>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Kartu profil</a:t>
            </a:r>
            <a:endParaRPr lang="en-US" sz="1500" dirty="0"/>
          </a:p>
        </p:txBody>
      </p:sp>
      <p:sp>
        <p:nvSpPr>
          <p:cNvPr id="6" name="teks-53"/>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NPM, prodi, fakultas, kelas, angkatan, kontak, badge beasiswa.</a:t>
            </a:r>
            <a:endParaRPr lang="en-US" sz="1300" dirty="0"/>
          </a:p>
        </p:txBody>
      </p:sp>
      <p:sp>
        <p:nvSpPr>
          <p:cNvPr id="7" name="poin-54"/>
          <p:cNvSpPr/>
          <p:nvPr/>
        </p:nvSpPr>
        <p:spPr>
          <a:xfrm>
            <a:off x="685800" y="2980944"/>
            <a:ext cx="128016" cy="128016"/>
          </a:xfrm>
          <a:prstGeom prst="ellipse">
            <a:avLst/>
          </a:prstGeom>
          <a:solidFill>
            <a:schemeClr val="accent2"/>
          </a:solidFill>
          <a:ln/>
        </p:spPr>
      </p:sp>
      <p:sp>
        <p:nvSpPr>
          <p:cNvPr id="8" name="teks-55"/>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Grafik IPK per Semester</a:t>
            </a:r>
            <a:endParaRPr lang="en-US" sz="1500" dirty="0"/>
          </a:p>
        </p:txBody>
      </p:sp>
      <p:sp>
        <p:nvSpPr>
          <p:cNvPr id="9" name="teks-56"/>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IPK saat ini dan trennya dari semester ke semester.</a:t>
            </a:r>
            <a:endParaRPr lang="en-US" sz="1300" dirty="0"/>
          </a:p>
        </p:txBody>
      </p:sp>
      <p:sp>
        <p:nvSpPr>
          <p:cNvPr id="10" name="poin-57"/>
          <p:cNvSpPr/>
          <p:nvPr/>
        </p:nvSpPr>
        <p:spPr>
          <a:xfrm>
            <a:off x="685800" y="3941064"/>
            <a:ext cx="128016" cy="128016"/>
          </a:xfrm>
          <a:prstGeom prst="ellipse">
            <a:avLst/>
          </a:prstGeom>
          <a:solidFill>
            <a:schemeClr val="accent2"/>
          </a:solidFill>
          <a:ln/>
        </p:spPr>
      </p:sp>
      <p:sp>
        <p:nvSpPr>
          <p:cNvPr id="11" name="teks-58"/>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Tagihan Tahun Ini</a:t>
            </a:r>
            <a:endParaRPr lang="en-US" sz="1500" dirty="0"/>
          </a:p>
        </p:txBody>
      </p:sp>
      <p:sp>
        <p:nvSpPr>
          <p:cNvPr id="12" name="teks-59"/>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Tagihan yang belum lunas, lengkap dengan Kode Bayar / VA.</a:t>
            </a:r>
            <a:endParaRPr lang="en-US" sz="1300" dirty="0"/>
          </a:p>
        </p:txBody>
      </p:sp>
      <p:sp>
        <p:nvSpPr>
          <p:cNvPr id="13" name="poin-60"/>
          <p:cNvSpPr/>
          <p:nvPr/>
        </p:nvSpPr>
        <p:spPr>
          <a:xfrm>
            <a:off x="685800" y="4901184"/>
            <a:ext cx="128016" cy="128016"/>
          </a:xfrm>
          <a:prstGeom prst="ellipse">
            <a:avLst/>
          </a:prstGeom>
          <a:solidFill>
            <a:schemeClr val="accent2"/>
          </a:solidFill>
          <a:ln/>
        </p:spPr>
      </p:sp>
      <p:sp>
        <p:nvSpPr>
          <p:cNvPr id="14" name="teks-61"/>
          <p:cNvSpPr txBox="1"/>
          <p:nvPr/>
        </p:nvSpPr>
        <p:spPr>
          <a:xfrm>
            <a:off x="960120" y="4800600"/>
            <a:ext cx="3520440" cy="310896"/>
          </a:xfrm>
          <a:prstGeom prst="rect">
            <a:avLst/>
          </a:prstGeom>
          <a:noFill/>
          <a:ln/>
        </p:spPr>
        <p:txBody>
          <a:bodyPr wrap="square" lIns="0" tIns="0" rIns="0" bIns="0" rtlCol="0" anchor="t"/>
          <a:lstStyle/>
          <a:p>
            <a:pPr indent="0" marL="0">
              <a:buNone/>
            </a:pPr>
            <a:r>
              <a:rPr lang="en-US" sz="1500" b="1" dirty="0">
                <a:solidFill>
                  <a:schemeClr val="tx1"/>
                </a:solidFill>
              </a:rPr>
              <a:t>Menu Akademik</a:t>
            </a:r>
            <a:endParaRPr lang="en-US" sz="1500" dirty="0"/>
          </a:p>
        </p:txBody>
      </p:sp>
      <p:sp>
        <p:nvSpPr>
          <p:cNvPr id="15" name="teks-62"/>
          <p:cNvSpPr txBox="1"/>
          <p:nvPr/>
        </p:nvSpPr>
        <p:spPr>
          <a:xfrm>
            <a:off x="960120" y="513892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Pintasan ke Jadwal Kuliah, KRS, dan KHS.</a:t>
            </a:r>
            <a:endParaRPr lang="en-US" sz="1300" dirty="0"/>
          </a:p>
        </p:txBody>
      </p:sp>
      <p:sp>
        <p:nvSpPr>
          <p:cNvPr id="16" name="bingkai-63"/>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64" descr="Halaman Dashboard SIMAWA">    </p:cNvPr>
          <p:cNvPicPr>
            <a:picLocks noChangeAspect="1"/>
          </p:cNvPicPr>
          <p:nvPr/>
        </p:nvPicPr>
        <p:blipFill>
          <a:blip r:embed="rId1"/>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DASHBOARD · PROFIL &amp; GRAFIK IPK</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Cek data diri dan perkembangan IPK</a:t>
            </a:r>
            <a:endParaRPr lang="en-US" sz="3400" dirty="0"/>
          </a:p>
        </p:txBody>
      </p:sp>
      <p:sp>
        <p:nvSpPr>
          <p:cNvPr id="4" name="bingkai-65"/>
          <p:cNvSpPr/>
          <p:nvPr/>
        </p:nvSpPr>
        <p:spPr>
          <a:xfrm>
            <a:off x="640080" y="1828800"/>
            <a:ext cx="5317236" cy="3547208"/>
          </a:xfrm>
          <a:prstGeom prst="roundRect">
            <a:avLst>
              <a:gd name="adj" fmla="val 2062"/>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5" name="screenshot-66" descr="Kartu profil mahasiswa">    </p:cNvPr>
          <p:cNvPicPr>
            <a:picLocks noChangeAspect="1"/>
          </p:cNvPicPr>
          <p:nvPr/>
        </p:nvPicPr>
        <p:blipFill>
          <a:blip r:embed="rId1"/>
          <a:stretch>
            <a:fillRect/>
          </a:stretch>
        </p:blipFill>
        <p:spPr>
          <a:xfrm>
            <a:off x="685800" y="1874520"/>
            <a:ext cx="5225796" cy="3455768"/>
          </a:xfrm>
          <a:prstGeom prst="rect">
            <a:avLst/>
          </a:prstGeom>
        </p:spPr>
      </p:pic>
      <p:sp>
        <p:nvSpPr>
          <p:cNvPr id="6" name="bingkai-67"/>
          <p:cNvSpPr/>
          <p:nvPr/>
        </p:nvSpPr>
        <p:spPr>
          <a:xfrm>
            <a:off x="6231636" y="1828800"/>
            <a:ext cx="5317236" cy="3547208"/>
          </a:xfrm>
          <a:prstGeom prst="roundRect">
            <a:avLst>
              <a:gd name="adj" fmla="val 2062"/>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7" name="screenshot-68" descr="Grafik IPK per semester">    </p:cNvPr>
          <p:cNvPicPr>
            <a:picLocks noChangeAspect="1"/>
          </p:cNvPicPr>
          <p:nvPr/>
        </p:nvPicPr>
        <p:blipFill>
          <a:blip r:embed="rId2"/>
          <a:stretch>
            <a:fillRect/>
          </a:stretch>
        </p:blipFill>
        <p:spPr>
          <a:xfrm>
            <a:off x="6277356" y="1874520"/>
            <a:ext cx="5225796" cy="3455768"/>
          </a:xfrm>
          <a:prstGeom prst="rect">
            <a:avLst/>
          </a:prstGeom>
        </p:spPr>
      </p:pic>
      <p:sp>
        <p:nvSpPr>
          <p:cNvPr id="8" name="teks-69"/>
          <p:cNvSpPr txBox="1"/>
          <p:nvPr/>
        </p:nvSpPr>
        <p:spPr>
          <a:xfrm>
            <a:off x="685800" y="5604608"/>
            <a:ext cx="5225796" cy="731520"/>
          </a:xfrm>
          <a:prstGeom prst="rect">
            <a:avLst/>
          </a:prstGeom>
          <a:noFill/>
          <a:ln/>
        </p:spPr>
        <p:txBody>
          <a:bodyPr wrap="square" lIns="0" tIns="0" rIns="0" bIns="0" rtlCol="0" anchor="t"/>
          <a:lstStyle/>
          <a:p>
            <a:pPr indent="0" marL="0">
              <a:buNone/>
            </a:pPr>
            <a:r>
              <a:rPr lang="en-US" sz="1300" b="1" dirty="0">
                <a:solidFill>
                  <a:srgbClr val="334155"/>
                </a:solidFill>
              </a:rPr>
              <a:t>Kartu profil · </a:t>
            </a:r>
            <a:pPr indent="0" marL="0">
              <a:buNone/>
            </a:pPr>
            <a:r>
              <a:rPr lang="en-US" sz="1300" dirty="0">
                <a:solidFill>
                  <a:srgbClr val="334155"/>
                </a:solidFill>
              </a:rPr>
              <a:t>Data salah (email, HP, prodi)? Laporkan ke bagian akademik. Badge hijau muncul jika Anda penerima beasiswa.</a:t>
            </a:r>
            <a:endParaRPr lang="en-US" sz="1300" dirty="0"/>
          </a:p>
        </p:txBody>
      </p:sp>
      <p:sp>
        <p:nvSpPr>
          <p:cNvPr id="9" name="teks-70"/>
          <p:cNvSpPr txBox="1"/>
          <p:nvPr/>
        </p:nvSpPr>
        <p:spPr>
          <a:xfrm>
            <a:off x="6277356" y="5604608"/>
            <a:ext cx="5225796" cy="731520"/>
          </a:xfrm>
          <a:prstGeom prst="rect">
            <a:avLst/>
          </a:prstGeom>
          <a:noFill/>
          <a:ln/>
        </p:spPr>
        <p:txBody>
          <a:bodyPr wrap="square" lIns="0" tIns="0" rIns="0" bIns="0" rtlCol="0" anchor="t"/>
          <a:lstStyle/>
          <a:p>
            <a:pPr indent="0" marL="0">
              <a:buNone/>
            </a:pPr>
            <a:r>
              <a:rPr lang="en-US" sz="1300" b="1" dirty="0">
                <a:solidFill>
                  <a:srgbClr val="334155"/>
                </a:solidFill>
              </a:rPr>
              <a:t>Grafik IPK · </a:t>
            </a:r>
            <a:pPr indent="0" marL="0">
              <a:buNone/>
            </a:pPr>
            <a:r>
              <a:rPr lang="en-US" sz="1300" dirty="0">
                <a:solidFill>
                  <a:srgbClr val="334155"/>
                </a:solidFill>
              </a:rPr>
              <a:t>Angka biru di kanan atas adalah IPK terakhir. Arahkan kursor ke titik grafik untuk melihat IPK tiap semester.</a:t>
            </a:r>
            <a:endParaRPr lang="en-US" sz="13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DASHBOARD · TAGIHAN &amp; AKUN</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Tagihan yang perlu dibayar, langsung di depan</a:t>
            </a:r>
            <a:endParaRPr lang="en-US" sz="3400" dirty="0"/>
          </a:p>
        </p:txBody>
      </p:sp>
      <p:sp>
        <p:nvSpPr>
          <p:cNvPr id="4" name="bingkai-71"/>
          <p:cNvSpPr/>
          <p:nvPr/>
        </p:nvSpPr>
        <p:spPr>
          <a:xfrm>
            <a:off x="640080" y="1828800"/>
            <a:ext cx="10908792" cy="3100492"/>
          </a:xfrm>
          <a:prstGeom prst="roundRect">
            <a:avLst>
              <a:gd name="adj" fmla="val 2359"/>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5" name="screenshot-72" descr="Kartu Tagihan Tahun Ini di dashboard">    </p:cNvPr>
          <p:cNvPicPr>
            <a:picLocks noChangeAspect="1"/>
          </p:cNvPicPr>
          <p:nvPr/>
        </p:nvPicPr>
        <p:blipFill>
          <a:blip r:embed="rId1"/>
          <a:stretch>
            <a:fillRect/>
          </a:stretch>
        </p:blipFill>
        <p:spPr>
          <a:xfrm>
            <a:off x="685800" y="1874520"/>
            <a:ext cx="10817352" cy="3009052"/>
          </a:xfrm>
          <a:prstGeom prst="rect">
            <a:avLst/>
          </a:prstGeom>
        </p:spPr>
      </p:pic>
      <p:sp>
        <p:nvSpPr>
          <p:cNvPr id="6" name="teks-73"/>
          <p:cNvSpPr txBox="1"/>
          <p:nvPr/>
        </p:nvSpPr>
        <p:spPr>
          <a:xfrm>
            <a:off x="685800" y="5157892"/>
            <a:ext cx="7863840" cy="822960"/>
          </a:xfrm>
          <a:prstGeom prst="rect">
            <a:avLst/>
          </a:prstGeom>
          <a:noFill/>
          <a:ln/>
        </p:spPr>
        <p:txBody>
          <a:bodyPr wrap="square" lIns="0" tIns="0" rIns="0" bIns="0" rtlCol="0" anchor="t"/>
          <a:lstStyle/>
          <a:p>
            <a:pPr indent="0" marL="0">
              <a:buNone/>
            </a:pPr>
            <a:r>
              <a:rPr lang="en-US" sz="1400" b="1" dirty="0">
                <a:solidFill>
                  <a:srgbClr val="334155"/>
                </a:solidFill>
              </a:rPr>
              <a:t>Salin</a:t>
            </a:r>
            <a:pPr indent="0" marL="0">
              <a:buNone/>
            </a:pPr>
            <a:r>
              <a:rPr lang="en-US" sz="1400" dirty="0">
                <a:solidFill>
                  <a:srgbClr val="334155"/>
                </a:solidFill>
              </a:rPr>
              <a:t> menyalin Kode Bayar / VA untuk transfer di bank. Angka merah = sisa yang harus dibayar. </a:t>
            </a:r>
            <a:pPr indent="0" marL="0">
              <a:buNone/>
            </a:pPr>
            <a:r>
              <a:rPr lang="en-US" sz="1400" b="1" dirty="0">
                <a:solidFill>
                  <a:srgbClr val="334155"/>
                </a:solidFill>
              </a:rPr>
              <a:t>Lihat semua</a:t>
            </a:r>
            <a:pPr indent="0" marL="0">
              <a:buNone/>
            </a:pPr>
            <a:r>
              <a:rPr lang="en-US" sz="1400" dirty="0">
                <a:solidFill>
                  <a:srgbClr val="334155"/>
                </a:solidFill>
              </a:rPr>
              <a:t> membuka Riwayat Tagihan.</a:t>
            </a:r>
            <a:endParaRPr lang="en-US" sz="1400" dirty="0"/>
          </a:p>
        </p:txBody>
      </p:sp>
      <p:sp>
        <p:nvSpPr>
          <p:cNvPr id="7" name="bingkai-74"/>
          <p:cNvSpPr/>
          <p:nvPr/>
        </p:nvSpPr>
        <p:spPr>
          <a:xfrm>
            <a:off x="9217152" y="5112172"/>
            <a:ext cx="2331720" cy="1058834"/>
          </a:xfrm>
          <a:prstGeom prst="roundRect">
            <a:avLst>
              <a:gd name="adj" fmla="val 6909"/>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8" name="screenshot-75" descr="Menu akun dengan tombol Logout">    </p:cNvPr>
          <p:cNvPicPr>
            <a:picLocks noChangeAspect="1"/>
          </p:cNvPicPr>
          <p:nvPr/>
        </p:nvPicPr>
        <p:blipFill>
          <a:blip r:embed="rId2"/>
          <a:stretch>
            <a:fillRect/>
          </a:stretch>
        </p:blipFill>
        <p:spPr>
          <a:xfrm>
            <a:off x="9262872" y="5157892"/>
            <a:ext cx="2240280" cy="967394"/>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2"/>
                </a:solidFill>
              </a:rPr>
              <a:t>ALUR SATU SEMESTER</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bg1"/>
                </a:solidFill>
              </a:rPr>
              <a:t>Lima langkah, harus berurutan</a:t>
            </a:r>
            <a:endParaRPr lang="en-US" sz="3400" dirty="0"/>
          </a:p>
        </p:txBody>
      </p:sp>
      <p:sp>
        <p:nvSpPr>
          <p:cNvPr id="4" name="kartu-76"/>
          <p:cNvSpPr/>
          <p:nvPr/>
        </p:nvSpPr>
        <p:spPr>
          <a:xfrm>
            <a:off x="685800" y="2148840"/>
            <a:ext cx="1834286" cy="2514600"/>
          </a:xfrm>
          <a:prstGeom prst="roundRect">
            <a:avLst>
              <a:gd name="adj" fmla="val 6979"/>
            </a:avLst>
          </a:prstGeom>
          <a:solidFill>
            <a:srgbClr val="1E3A8A"/>
          </a:solidFill>
          <a:ln/>
          <a:effectLst>
            <a:outerShdw sx="100000" sy="100000" kx="0" ky="0" algn="bl" rotWithShape="0" blurRad="101600" dist="25400" dir="5400000">
              <a:srgbClr val="172554">
                <a:alpha val="8000"/>
              </a:srgbClr>
            </a:outerShdw>
          </a:effectLst>
        </p:spPr>
      </p:sp>
      <p:sp>
        <p:nvSpPr>
          <p:cNvPr id="5" name="teks-77"/>
          <p:cNvSpPr txBox="1"/>
          <p:nvPr/>
        </p:nvSpPr>
        <p:spPr>
          <a:xfrm>
            <a:off x="941832" y="233172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1</a:t>
            </a:r>
            <a:endParaRPr lang="en-US" sz="4000" dirty="0"/>
          </a:p>
        </p:txBody>
      </p:sp>
      <p:sp>
        <p:nvSpPr>
          <p:cNvPr id="6" name="teks-78"/>
          <p:cNvSpPr txBox="1"/>
          <p:nvPr/>
        </p:nvSpPr>
        <p:spPr>
          <a:xfrm>
            <a:off x="941832" y="3108960"/>
            <a:ext cx="1377086" cy="365760"/>
          </a:xfrm>
          <a:prstGeom prst="rect">
            <a:avLst/>
          </a:prstGeom>
          <a:noFill/>
          <a:ln/>
        </p:spPr>
        <p:txBody>
          <a:bodyPr wrap="square" lIns="0" tIns="0" rIns="0" bIns="0" rtlCol="0" anchor="t"/>
          <a:lstStyle/>
          <a:p>
            <a:pPr indent="0" marL="0">
              <a:buNone/>
            </a:pPr>
            <a:r>
              <a:rPr lang="en-US" sz="1800" b="1" dirty="0">
                <a:solidFill>
                  <a:schemeClr val="bg1"/>
                </a:solidFill>
              </a:rPr>
              <a:t>Bayar SPP</a:t>
            </a:r>
            <a:endParaRPr lang="en-US" sz="1800" dirty="0"/>
          </a:p>
        </p:txBody>
      </p:sp>
      <p:sp>
        <p:nvSpPr>
          <p:cNvPr id="7" name="teks-79"/>
          <p:cNvSpPr txBox="1"/>
          <p:nvPr/>
        </p:nvSpPr>
        <p:spPr>
          <a:xfrm>
            <a:off x="941832" y="3520440"/>
            <a:ext cx="1377086" cy="914400"/>
          </a:xfrm>
          <a:prstGeom prst="rect">
            <a:avLst/>
          </a:prstGeom>
          <a:noFill/>
          <a:ln/>
        </p:spPr>
        <p:txBody>
          <a:bodyPr wrap="square" lIns="0" tIns="0" rIns="0" bIns="0" rtlCol="0" anchor="t"/>
          <a:lstStyle/>
          <a:p>
            <a:pPr indent="0" marL="0">
              <a:buNone/>
            </a:pPr>
            <a:r>
              <a:rPr lang="en-US" sz="1400" dirty="0">
                <a:solidFill>
                  <a:srgbClr val="BFDBFE"/>
                </a:solidFill>
              </a:rPr>
              <a:t>Minimal 60% SPP tahun akademik aktif</a:t>
            </a:r>
            <a:endParaRPr lang="en-US" sz="1400" dirty="0"/>
          </a:p>
        </p:txBody>
      </p:sp>
      <p:sp>
        <p:nvSpPr>
          <p:cNvPr id="8" name="panah-80"/>
          <p:cNvSpPr/>
          <p:nvPr/>
        </p:nvSpPr>
        <p:spPr>
          <a:xfrm>
            <a:off x="2593238" y="3291840"/>
            <a:ext cx="265176" cy="228600"/>
          </a:xfrm>
          <a:prstGeom prst="rightArrow">
            <a:avLst/>
          </a:prstGeom>
          <a:solidFill>
            <a:schemeClr val="accent2"/>
          </a:solidFill>
          <a:ln/>
        </p:spPr>
      </p:sp>
      <p:sp>
        <p:nvSpPr>
          <p:cNvPr id="9" name="kartu-81"/>
          <p:cNvSpPr/>
          <p:nvPr/>
        </p:nvSpPr>
        <p:spPr>
          <a:xfrm>
            <a:off x="2931566" y="2148840"/>
            <a:ext cx="1834286" cy="2514600"/>
          </a:xfrm>
          <a:prstGeom prst="roundRect">
            <a:avLst>
              <a:gd name="adj" fmla="val 6979"/>
            </a:avLst>
          </a:prstGeom>
          <a:solidFill>
            <a:srgbClr val="1E3A8A"/>
          </a:solidFill>
          <a:ln/>
          <a:effectLst>
            <a:outerShdw sx="100000" sy="100000" kx="0" ky="0" algn="bl" rotWithShape="0" blurRad="101600" dist="25400" dir="5400000">
              <a:srgbClr val="172554">
                <a:alpha val="8000"/>
              </a:srgbClr>
            </a:outerShdw>
          </a:effectLst>
        </p:spPr>
      </p:sp>
      <p:sp>
        <p:nvSpPr>
          <p:cNvPr id="10" name="teks-82"/>
          <p:cNvSpPr txBox="1"/>
          <p:nvPr/>
        </p:nvSpPr>
        <p:spPr>
          <a:xfrm>
            <a:off x="3187598" y="233172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2</a:t>
            </a:r>
            <a:endParaRPr lang="en-US" sz="4000" dirty="0"/>
          </a:p>
        </p:txBody>
      </p:sp>
      <p:sp>
        <p:nvSpPr>
          <p:cNvPr id="11" name="teks-83"/>
          <p:cNvSpPr txBox="1"/>
          <p:nvPr/>
        </p:nvSpPr>
        <p:spPr>
          <a:xfrm>
            <a:off x="3187598" y="3108960"/>
            <a:ext cx="1377086" cy="365760"/>
          </a:xfrm>
          <a:prstGeom prst="rect">
            <a:avLst/>
          </a:prstGeom>
          <a:noFill/>
          <a:ln/>
        </p:spPr>
        <p:txBody>
          <a:bodyPr wrap="square" lIns="0" tIns="0" rIns="0" bIns="0" rtlCol="0" anchor="t"/>
          <a:lstStyle/>
          <a:p>
            <a:pPr indent="0" marL="0">
              <a:buNone/>
            </a:pPr>
            <a:r>
              <a:rPr lang="en-US" sz="1800" b="1" dirty="0">
                <a:solidFill>
                  <a:schemeClr val="bg1"/>
                </a:solidFill>
              </a:rPr>
              <a:t>Kontrak KRS</a:t>
            </a:r>
            <a:endParaRPr lang="en-US" sz="1800" dirty="0"/>
          </a:p>
        </p:txBody>
      </p:sp>
      <p:sp>
        <p:nvSpPr>
          <p:cNvPr id="12" name="teks-84"/>
          <p:cNvSpPr txBox="1"/>
          <p:nvPr/>
        </p:nvSpPr>
        <p:spPr>
          <a:xfrm>
            <a:off x="3187598" y="3520440"/>
            <a:ext cx="1377086" cy="914400"/>
          </a:xfrm>
          <a:prstGeom prst="rect">
            <a:avLst/>
          </a:prstGeom>
          <a:noFill/>
          <a:ln/>
        </p:spPr>
        <p:txBody>
          <a:bodyPr wrap="square" lIns="0" tIns="0" rIns="0" bIns="0" rtlCol="0" anchor="t"/>
          <a:lstStyle/>
          <a:p>
            <a:pPr indent="0" marL="0">
              <a:buNone/>
            </a:pPr>
            <a:r>
              <a:rPr lang="en-US" sz="1400" dirty="0">
                <a:solidFill>
                  <a:srgbClr val="BFDBFE"/>
                </a:solidFill>
              </a:rPr>
              <a:t>Pilih mata kuliah yang akan diambil</a:t>
            </a:r>
            <a:endParaRPr lang="en-US" sz="1400" dirty="0"/>
          </a:p>
        </p:txBody>
      </p:sp>
      <p:sp>
        <p:nvSpPr>
          <p:cNvPr id="13" name="panah-85"/>
          <p:cNvSpPr/>
          <p:nvPr/>
        </p:nvSpPr>
        <p:spPr>
          <a:xfrm>
            <a:off x="4839005" y="3291840"/>
            <a:ext cx="265176" cy="228600"/>
          </a:xfrm>
          <a:prstGeom prst="rightArrow">
            <a:avLst/>
          </a:prstGeom>
          <a:solidFill>
            <a:schemeClr val="accent2"/>
          </a:solidFill>
          <a:ln/>
        </p:spPr>
      </p:sp>
      <p:sp>
        <p:nvSpPr>
          <p:cNvPr id="14" name="kartu-86"/>
          <p:cNvSpPr/>
          <p:nvPr/>
        </p:nvSpPr>
        <p:spPr>
          <a:xfrm>
            <a:off x="5177333" y="2148840"/>
            <a:ext cx="1834286" cy="2514600"/>
          </a:xfrm>
          <a:prstGeom prst="roundRect">
            <a:avLst>
              <a:gd name="adj" fmla="val 6979"/>
            </a:avLst>
          </a:prstGeom>
          <a:solidFill>
            <a:srgbClr val="1E3A8A"/>
          </a:solidFill>
          <a:ln/>
          <a:effectLst>
            <a:outerShdw sx="100000" sy="100000" kx="0" ky="0" algn="bl" rotWithShape="0" blurRad="101600" dist="25400" dir="5400000">
              <a:srgbClr val="172554">
                <a:alpha val="8000"/>
              </a:srgbClr>
            </a:outerShdw>
          </a:effectLst>
        </p:spPr>
      </p:sp>
      <p:sp>
        <p:nvSpPr>
          <p:cNvPr id="15" name="teks-87"/>
          <p:cNvSpPr txBox="1"/>
          <p:nvPr/>
        </p:nvSpPr>
        <p:spPr>
          <a:xfrm>
            <a:off x="5433365" y="233172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3</a:t>
            </a:r>
            <a:endParaRPr lang="en-US" sz="4000" dirty="0"/>
          </a:p>
        </p:txBody>
      </p:sp>
      <p:sp>
        <p:nvSpPr>
          <p:cNvPr id="16" name="teks-88"/>
          <p:cNvSpPr txBox="1"/>
          <p:nvPr/>
        </p:nvSpPr>
        <p:spPr>
          <a:xfrm>
            <a:off x="5433365" y="3108960"/>
            <a:ext cx="1377086" cy="365760"/>
          </a:xfrm>
          <a:prstGeom prst="rect">
            <a:avLst/>
          </a:prstGeom>
          <a:noFill/>
          <a:ln/>
        </p:spPr>
        <p:txBody>
          <a:bodyPr wrap="square" lIns="0" tIns="0" rIns="0" bIns="0" rtlCol="0" anchor="t"/>
          <a:lstStyle/>
          <a:p>
            <a:pPr indent="0" marL="0">
              <a:buNone/>
            </a:pPr>
            <a:r>
              <a:rPr lang="en-US" sz="1800" b="1" dirty="0">
                <a:solidFill>
                  <a:schemeClr val="bg1"/>
                </a:solidFill>
              </a:rPr>
              <a:t>Ikuti kuliah</a:t>
            </a:r>
            <a:endParaRPr lang="en-US" sz="1800" dirty="0"/>
          </a:p>
        </p:txBody>
      </p:sp>
      <p:sp>
        <p:nvSpPr>
          <p:cNvPr id="17" name="teks-89"/>
          <p:cNvSpPr txBox="1"/>
          <p:nvPr/>
        </p:nvSpPr>
        <p:spPr>
          <a:xfrm>
            <a:off x="5433365" y="3520440"/>
            <a:ext cx="1377086" cy="914400"/>
          </a:xfrm>
          <a:prstGeom prst="rect">
            <a:avLst/>
          </a:prstGeom>
          <a:noFill/>
          <a:ln/>
        </p:spPr>
        <p:txBody>
          <a:bodyPr wrap="square" lIns="0" tIns="0" rIns="0" bIns="0" rtlCol="0" anchor="t"/>
          <a:lstStyle/>
          <a:p>
            <a:pPr indent="0" marL="0">
              <a:buNone/>
            </a:pPr>
            <a:r>
              <a:rPr lang="en-US" sz="1400" dirty="0">
                <a:solidFill>
                  <a:srgbClr val="BFDBFE"/>
                </a:solidFill>
              </a:rPr>
              <a:t>Tunggu persetujuan PA, cek jadwal</a:t>
            </a:r>
            <a:endParaRPr lang="en-US" sz="1400" dirty="0"/>
          </a:p>
        </p:txBody>
      </p:sp>
      <p:sp>
        <p:nvSpPr>
          <p:cNvPr id="18" name="panah-90"/>
          <p:cNvSpPr/>
          <p:nvPr/>
        </p:nvSpPr>
        <p:spPr>
          <a:xfrm>
            <a:off x="7084771" y="3291840"/>
            <a:ext cx="265176" cy="228600"/>
          </a:xfrm>
          <a:prstGeom prst="rightArrow">
            <a:avLst/>
          </a:prstGeom>
          <a:solidFill>
            <a:schemeClr val="accent2"/>
          </a:solidFill>
          <a:ln/>
        </p:spPr>
      </p:sp>
      <p:sp>
        <p:nvSpPr>
          <p:cNvPr id="19" name="kartu-91"/>
          <p:cNvSpPr/>
          <p:nvPr/>
        </p:nvSpPr>
        <p:spPr>
          <a:xfrm>
            <a:off x="7423099" y="2148840"/>
            <a:ext cx="1834286" cy="2514600"/>
          </a:xfrm>
          <a:prstGeom prst="roundRect">
            <a:avLst>
              <a:gd name="adj" fmla="val 6979"/>
            </a:avLst>
          </a:prstGeom>
          <a:solidFill>
            <a:srgbClr val="1E3A8A"/>
          </a:solidFill>
          <a:ln/>
          <a:effectLst>
            <a:outerShdw sx="100000" sy="100000" kx="0" ky="0" algn="bl" rotWithShape="0" blurRad="101600" dist="25400" dir="5400000">
              <a:srgbClr val="172554">
                <a:alpha val="8000"/>
              </a:srgbClr>
            </a:outerShdw>
          </a:effectLst>
        </p:spPr>
      </p:sp>
      <p:sp>
        <p:nvSpPr>
          <p:cNvPr id="20" name="teks-92"/>
          <p:cNvSpPr txBox="1"/>
          <p:nvPr/>
        </p:nvSpPr>
        <p:spPr>
          <a:xfrm>
            <a:off x="7679131" y="233172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4</a:t>
            </a:r>
            <a:endParaRPr lang="en-US" sz="4000" dirty="0"/>
          </a:p>
        </p:txBody>
      </p:sp>
      <p:sp>
        <p:nvSpPr>
          <p:cNvPr id="21" name="teks-93"/>
          <p:cNvSpPr txBox="1"/>
          <p:nvPr/>
        </p:nvSpPr>
        <p:spPr>
          <a:xfrm>
            <a:off x="7679131" y="3108960"/>
            <a:ext cx="1377086" cy="365760"/>
          </a:xfrm>
          <a:prstGeom prst="rect">
            <a:avLst/>
          </a:prstGeom>
          <a:noFill/>
          <a:ln/>
        </p:spPr>
        <p:txBody>
          <a:bodyPr wrap="square" lIns="0" tIns="0" rIns="0" bIns="0" rtlCol="0" anchor="t"/>
          <a:lstStyle/>
          <a:p>
            <a:pPr indent="0" marL="0">
              <a:buNone/>
            </a:pPr>
            <a:r>
              <a:rPr lang="en-US" sz="1800" b="1" dirty="0">
                <a:solidFill>
                  <a:schemeClr val="bg1"/>
                </a:solidFill>
              </a:rPr>
              <a:t>Isi EDOM</a:t>
            </a:r>
            <a:endParaRPr lang="en-US" sz="1800" dirty="0"/>
          </a:p>
        </p:txBody>
      </p:sp>
      <p:sp>
        <p:nvSpPr>
          <p:cNvPr id="22" name="teks-94"/>
          <p:cNvSpPr txBox="1"/>
          <p:nvPr/>
        </p:nvSpPr>
        <p:spPr>
          <a:xfrm>
            <a:off x="7679131" y="3520440"/>
            <a:ext cx="1377086" cy="914400"/>
          </a:xfrm>
          <a:prstGeom prst="rect">
            <a:avLst/>
          </a:prstGeom>
          <a:noFill/>
          <a:ln/>
        </p:spPr>
        <p:txBody>
          <a:bodyPr wrap="square" lIns="0" tIns="0" rIns="0" bIns="0" rtlCol="0" anchor="t"/>
          <a:lstStyle/>
          <a:p>
            <a:pPr indent="0" marL="0">
              <a:buNone/>
            </a:pPr>
            <a:r>
              <a:rPr lang="en-US" sz="1400" dirty="0">
                <a:solidFill>
                  <a:srgbClr val="BFDBFE"/>
                </a:solidFill>
              </a:rPr>
              <a:t>Evaluasi dosen di tiap mata kuliah</a:t>
            </a:r>
            <a:endParaRPr lang="en-US" sz="1400" dirty="0"/>
          </a:p>
        </p:txBody>
      </p:sp>
      <p:sp>
        <p:nvSpPr>
          <p:cNvPr id="23" name="panah-95"/>
          <p:cNvSpPr/>
          <p:nvPr/>
        </p:nvSpPr>
        <p:spPr>
          <a:xfrm>
            <a:off x="9330538" y="3291840"/>
            <a:ext cx="265176" cy="228600"/>
          </a:xfrm>
          <a:prstGeom prst="rightArrow">
            <a:avLst/>
          </a:prstGeom>
          <a:solidFill>
            <a:schemeClr val="accent2"/>
          </a:solidFill>
          <a:ln/>
        </p:spPr>
      </p:sp>
      <p:sp>
        <p:nvSpPr>
          <p:cNvPr id="24" name="kartu-96"/>
          <p:cNvSpPr/>
          <p:nvPr/>
        </p:nvSpPr>
        <p:spPr>
          <a:xfrm>
            <a:off x="9668866" y="2148840"/>
            <a:ext cx="1834286" cy="2514600"/>
          </a:xfrm>
          <a:prstGeom prst="roundRect">
            <a:avLst>
              <a:gd name="adj" fmla="val 6979"/>
            </a:avLst>
          </a:prstGeom>
          <a:solidFill>
            <a:schemeClr val="accent2"/>
          </a:solidFill>
          <a:ln/>
          <a:effectLst>
            <a:outerShdw sx="100000" sy="100000" kx="0" ky="0" algn="bl" rotWithShape="0" blurRad="101600" dist="25400" dir="5400000">
              <a:srgbClr val="172554">
                <a:alpha val="8000"/>
              </a:srgbClr>
            </a:outerShdw>
          </a:effectLst>
        </p:spPr>
      </p:sp>
      <p:sp>
        <p:nvSpPr>
          <p:cNvPr id="25" name="teks-97"/>
          <p:cNvSpPr txBox="1"/>
          <p:nvPr/>
        </p:nvSpPr>
        <p:spPr>
          <a:xfrm>
            <a:off x="9924898" y="2331720"/>
            <a:ext cx="914400" cy="685800"/>
          </a:xfrm>
          <a:prstGeom prst="rect">
            <a:avLst/>
          </a:prstGeom>
          <a:noFill/>
          <a:ln/>
        </p:spPr>
        <p:txBody>
          <a:bodyPr wrap="square" lIns="0" tIns="0" rIns="0" bIns="0" rtlCol="0" anchor="t"/>
          <a:lstStyle/>
          <a:p>
            <a:pPr indent="0" marL="0">
              <a:buNone/>
            </a:pPr>
            <a:r>
              <a:rPr lang="en-US" sz="4000" b="1" dirty="0">
                <a:solidFill>
                  <a:schemeClr val="tx2"/>
                </a:solidFill>
              </a:rPr>
              <a:t>5</a:t>
            </a:r>
            <a:endParaRPr lang="en-US" sz="4000" dirty="0"/>
          </a:p>
        </p:txBody>
      </p:sp>
      <p:sp>
        <p:nvSpPr>
          <p:cNvPr id="26" name="teks-98"/>
          <p:cNvSpPr txBox="1"/>
          <p:nvPr/>
        </p:nvSpPr>
        <p:spPr>
          <a:xfrm>
            <a:off x="9924898" y="3108960"/>
            <a:ext cx="1377086" cy="365760"/>
          </a:xfrm>
          <a:prstGeom prst="rect">
            <a:avLst/>
          </a:prstGeom>
          <a:noFill/>
          <a:ln/>
        </p:spPr>
        <p:txBody>
          <a:bodyPr wrap="square" lIns="0" tIns="0" rIns="0" bIns="0" rtlCol="0" anchor="t"/>
          <a:lstStyle/>
          <a:p>
            <a:pPr indent="0" marL="0">
              <a:buNone/>
            </a:pPr>
            <a:r>
              <a:rPr lang="en-US" sz="1800" b="1" dirty="0">
                <a:solidFill>
                  <a:schemeClr val="tx2"/>
                </a:solidFill>
              </a:rPr>
              <a:t>Cetak KHS</a:t>
            </a:r>
            <a:endParaRPr lang="en-US" sz="1800" dirty="0"/>
          </a:p>
        </p:txBody>
      </p:sp>
      <p:sp>
        <p:nvSpPr>
          <p:cNvPr id="27" name="teks-99"/>
          <p:cNvSpPr txBox="1"/>
          <p:nvPr/>
        </p:nvSpPr>
        <p:spPr>
          <a:xfrm>
            <a:off x="9924898" y="3520440"/>
            <a:ext cx="1377086" cy="914400"/>
          </a:xfrm>
          <a:prstGeom prst="rect">
            <a:avLst/>
          </a:prstGeom>
          <a:noFill/>
          <a:ln/>
        </p:spPr>
        <p:txBody>
          <a:bodyPr wrap="square" lIns="0" tIns="0" rIns="0" bIns="0" rtlCol="0" anchor="t"/>
          <a:lstStyle/>
          <a:p>
            <a:pPr indent="0" marL="0">
              <a:buNone/>
            </a:pPr>
            <a:r>
              <a:rPr lang="en-US" sz="1400" dirty="0">
                <a:solidFill>
                  <a:srgbClr val="422006"/>
                </a:solidFill>
              </a:rPr>
              <a:t>Nilai terbuka, KHS siap dicetak</a:t>
            </a:r>
            <a:endParaRPr lang="en-US" sz="1400" dirty="0"/>
          </a:p>
        </p:txBody>
      </p:sp>
      <p:sp>
        <p:nvSpPr>
          <p:cNvPr id="28" name="teks-100"/>
          <p:cNvSpPr txBox="1"/>
          <p:nvPr/>
        </p:nvSpPr>
        <p:spPr>
          <a:xfrm>
            <a:off x="685800" y="5074920"/>
            <a:ext cx="9144000" cy="731520"/>
          </a:xfrm>
          <a:prstGeom prst="rect">
            <a:avLst/>
          </a:prstGeom>
          <a:noFill/>
          <a:ln/>
        </p:spPr>
        <p:txBody>
          <a:bodyPr wrap="square" lIns="0" tIns="0" rIns="0" bIns="0" rtlCol="0" anchor="t"/>
          <a:lstStyle/>
          <a:p>
            <a:pPr indent="0" marL="0">
              <a:buNone/>
            </a:pPr>
            <a:r>
              <a:rPr lang="en-US" sz="1700" dirty="0">
                <a:solidFill>
                  <a:srgbClr val="BFDBFE"/>
                </a:solidFill>
              </a:rPr>
              <a:t>Melompati satu langkah akan mengunci langkah berikutnya. Bagian ini membahas tiap langkah secara berurutan.</a:t>
            </a:r>
            <a:endParaRPr lang="en-US" sz="17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93C5F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AKADEMIK · JADWAL KULIAH</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Jadwal muncul dari KRS yang dikontrak</a:t>
            </a:r>
            <a:endParaRPr lang="en-US" sz="3400" dirty="0"/>
          </a:p>
        </p:txBody>
      </p:sp>
      <p:sp>
        <p:nvSpPr>
          <p:cNvPr id="4" name="poin-101"/>
          <p:cNvSpPr/>
          <p:nvPr/>
        </p:nvSpPr>
        <p:spPr>
          <a:xfrm>
            <a:off x="685800" y="2020824"/>
            <a:ext cx="128016" cy="128016"/>
          </a:xfrm>
          <a:prstGeom prst="ellipse">
            <a:avLst/>
          </a:prstGeom>
          <a:solidFill>
            <a:schemeClr val="accent2"/>
          </a:solidFill>
          <a:ln/>
        </p:spPr>
      </p:sp>
      <p:sp>
        <p:nvSpPr>
          <p:cNvPr id="5" name="teks-102"/>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Selalu tahun akademik aktif</a:t>
            </a:r>
            <a:endParaRPr lang="en-US" sz="1500" dirty="0"/>
          </a:p>
        </p:txBody>
      </p:sp>
      <p:sp>
        <p:nvSpPr>
          <p:cNvPr id="6" name="teks-103"/>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Tidak perlu memilih periode; halaman ini hanya untuk melihat.</a:t>
            </a:r>
            <a:endParaRPr lang="en-US" sz="1300" dirty="0"/>
          </a:p>
        </p:txBody>
      </p:sp>
      <p:sp>
        <p:nvSpPr>
          <p:cNvPr id="7" name="poin-104"/>
          <p:cNvSpPr/>
          <p:nvPr/>
        </p:nvSpPr>
        <p:spPr>
          <a:xfrm>
            <a:off x="685800" y="2980944"/>
            <a:ext cx="128016" cy="128016"/>
          </a:xfrm>
          <a:prstGeom prst="ellipse">
            <a:avLst/>
          </a:prstGeom>
          <a:solidFill>
            <a:schemeClr val="accent2"/>
          </a:solidFill>
          <a:ln/>
        </p:spPr>
      </p:sp>
      <p:sp>
        <p:nvSpPr>
          <p:cNvPr id="8" name="teks-105"/>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Ringkasan di atas</a:t>
            </a:r>
            <a:endParaRPr lang="en-US" sz="1500" dirty="0"/>
          </a:p>
        </p:txBody>
      </p:sp>
      <p:sp>
        <p:nvSpPr>
          <p:cNvPr id="9" name="teks-106"/>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Total SKS dan jumlah mata kuliah yang dikontrak.</a:t>
            </a:r>
            <a:endParaRPr lang="en-US" sz="1300" dirty="0"/>
          </a:p>
        </p:txBody>
      </p:sp>
      <p:sp>
        <p:nvSpPr>
          <p:cNvPr id="10" name="poin-107"/>
          <p:cNvSpPr/>
          <p:nvPr/>
        </p:nvSpPr>
        <p:spPr>
          <a:xfrm>
            <a:off x="685800" y="3941064"/>
            <a:ext cx="128016" cy="128016"/>
          </a:xfrm>
          <a:prstGeom prst="ellipse">
            <a:avLst/>
          </a:prstGeom>
          <a:solidFill>
            <a:schemeClr val="accent2"/>
          </a:solidFill>
          <a:ln/>
        </p:spPr>
      </p:sp>
      <p:sp>
        <p:nvSpPr>
          <p:cNvPr id="11" name="teks-108"/>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Dikelompokkan per hari</a:t>
            </a:r>
            <a:endParaRPr lang="en-US" sz="1500" dirty="0"/>
          </a:p>
        </p:txBody>
      </p:sp>
      <p:sp>
        <p:nvSpPr>
          <p:cNvPr id="12" name="teks-109"/>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Jam, kode, mata kuliah, SKS, ruang, dan dosen.</a:t>
            </a:r>
            <a:endParaRPr lang="en-US" sz="1300" dirty="0"/>
          </a:p>
        </p:txBody>
      </p:sp>
      <p:sp>
        <p:nvSpPr>
          <p:cNvPr id="13" name="callout-110"/>
          <p:cNvSpPr/>
          <p:nvPr/>
        </p:nvSpPr>
        <p:spPr>
          <a:xfrm>
            <a:off x="685800" y="5074920"/>
            <a:ext cx="3794760" cy="777240"/>
          </a:xfrm>
          <a:prstGeom prst="roundRect">
            <a:avLst>
              <a:gd name="adj" fmla="val 14118"/>
            </a:avLst>
          </a:prstGeom>
          <a:solidFill>
            <a:srgbClr val="FEF3C7"/>
          </a:solidFill>
          <a:ln/>
        </p:spPr>
      </p:sp>
      <p:pic>
        <p:nvPicPr>
          <p:cNvPr id="14" name="ikon-111" descr="preencoded.png">    </p:cNvPr>
          <p:cNvPicPr>
            <a:picLocks noChangeAspect="1"/>
          </p:cNvPicPr>
          <p:nvPr/>
        </p:nvPicPr>
        <p:blipFill>
          <a:blip r:embed="rId1"/>
          <a:stretch>
            <a:fillRect/>
          </a:stretch>
        </p:blipFill>
        <p:spPr>
          <a:xfrm>
            <a:off x="914400" y="5298948"/>
            <a:ext cx="329184" cy="329184"/>
          </a:xfrm>
          <a:prstGeom prst="rect">
            <a:avLst/>
          </a:prstGeom>
        </p:spPr>
      </p:pic>
      <p:sp>
        <p:nvSpPr>
          <p:cNvPr id="15" name="teks-112"/>
          <p:cNvSpPr txBox="1"/>
          <p:nvPr/>
        </p:nvSpPr>
        <p:spPr>
          <a:xfrm>
            <a:off x="1417320" y="5074920"/>
            <a:ext cx="2880360" cy="777240"/>
          </a:xfrm>
          <a:prstGeom prst="rect">
            <a:avLst/>
          </a:prstGeom>
          <a:noFill/>
          <a:ln/>
        </p:spPr>
        <p:txBody>
          <a:bodyPr wrap="square" lIns="0" tIns="0" rIns="0" bIns="0" rtlCol="0" anchor="ctr"/>
          <a:lstStyle/>
          <a:p>
            <a:pPr indent="0" marL="0">
              <a:buNone/>
            </a:pPr>
            <a:r>
              <a:rPr lang="en-US" sz="1400" b="1" dirty="0">
                <a:solidFill>
                  <a:srgbClr val="78350F"/>
                </a:solidFill>
              </a:rPr>
              <a:t>“Belum ada jadwal kuliah”?</a:t>
            </a:r>
            <a:pPr indent="0" marL="0">
              <a:buNone/>
            </a:pPr>
            <a:r>
              <a:rPr lang="en-US" sz="1400" dirty="0">
                <a:solidFill>
                  <a:srgbClr val="78350F"/>
                </a:solidFill>
              </a:rPr>
              <a:t> Kontrak mata kuliah dulu di KRS.</a:t>
            </a:r>
            <a:endParaRPr lang="en-US" sz="1400" dirty="0"/>
          </a:p>
        </p:txBody>
      </p:sp>
      <p:sp>
        <p:nvSpPr>
          <p:cNvPr id="16" name="bingkai-113"/>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114" descr="Halaman Jadwal Kuliah">    </p:cNvPr>
          <p:cNvPicPr>
            <a:picLocks noChangeAspect="1"/>
          </p:cNvPicPr>
          <p:nvPr/>
        </p:nvPicPr>
        <p:blipFill>
          <a:blip r:embed="rId2"/>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AKADEMIK · KRS</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Membaca halaman Kartu Rencana Studi</a:t>
            </a:r>
            <a:endParaRPr lang="en-US" sz="3400" dirty="0"/>
          </a:p>
        </p:txBody>
      </p:sp>
      <p:sp>
        <p:nvSpPr>
          <p:cNvPr id="4" name="poin-115"/>
          <p:cNvSpPr/>
          <p:nvPr/>
        </p:nvSpPr>
        <p:spPr>
          <a:xfrm>
            <a:off x="685800" y="2020824"/>
            <a:ext cx="128016" cy="128016"/>
          </a:xfrm>
          <a:prstGeom prst="ellipse">
            <a:avLst/>
          </a:prstGeom>
          <a:solidFill>
            <a:schemeClr val="accent2"/>
          </a:solidFill>
          <a:ln/>
        </p:spPr>
      </p:sp>
      <p:sp>
        <p:nvSpPr>
          <p:cNvPr id="5" name="teks-116"/>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Periode</a:t>
            </a:r>
            <a:endParaRPr lang="en-US" sz="1500" dirty="0"/>
          </a:p>
        </p:txBody>
      </p:sp>
      <p:sp>
        <p:nvSpPr>
          <p:cNvPr id="6" name="teks-117"/>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Otomatis semester terbaru. Ganti untuk melihat KRS semester lalu.</a:t>
            </a:r>
            <a:endParaRPr lang="en-US" sz="1300" dirty="0"/>
          </a:p>
        </p:txBody>
      </p:sp>
      <p:sp>
        <p:nvSpPr>
          <p:cNvPr id="7" name="poin-118"/>
          <p:cNvSpPr/>
          <p:nvPr/>
        </p:nvSpPr>
        <p:spPr>
          <a:xfrm>
            <a:off x="685800" y="2980944"/>
            <a:ext cx="128016" cy="128016"/>
          </a:xfrm>
          <a:prstGeom prst="ellipse">
            <a:avLst/>
          </a:prstGeom>
          <a:solidFill>
            <a:schemeClr val="accent2"/>
          </a:solidFill>
          <a:ln/>
        </p:spPr>
      </p:sp>
      <p:sp>
        <p:nvSpPr>
          <p:cNvPr id="8" name="teks-119"/>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Lihat KRS</a:t>
            </a:r>
            <a:endParaRPr lang="en-US" sz="1500" dirty="0"/>
          </a:p>
        </p:txBody>
      </p:sp>
      <p:sp>
        <p:nvSpPr>
          <p:cNvPr id="9" name="teks-120"/>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Membuka KRS dalam bentuk PDF di tab baru, siap dicetak.</a:t>
            </a:r>
            <a:endParaRPr lang="en-US" sz="1300" dirty="0"/>
          </a:p>
        </p:txBody>
      </p:sp>
      <p:sp>
        <p:nvSpPr>
          <p:cNvPr id="10" name="poin-121"/>
          <p:cNvSpPr/>
          <p:nvPr/>
        </p:nvSpPr>
        <p:spPr>
          <a:xfrm>
            <a:off x="685800" y="3941064"/>
            <a:ext cx="128016" cy="128016"/>
          </a:xfrm>
          <a:prstGeom prst="ellipse">
            <a:avLst/>
          </a:prstGeom>
          <a:solidFill>
            <a:schemeClr val="accent2"/>
          </a:solidFill>
          <a:ln/>
        </p:spPr>
      </p:sp>
      <p:sp>
        <p:nvSpPr>
          <p:cNvPr id="11" name="teks-122"/>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Kontrak KRS</a:t>
            </a:r>
            <a:endParaRPr lang="en-US" sz="1500" dirty="0"/>
          </a:p>
        </p:txBody>
      </p:sp>
      <p:sp>
        <p:nvSpPr>
          <p:cNvPr id="12" name="teks-123"/>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Membuka halaman untuk memilih mata kuliah.</a:t>
            </a:r>
            <a:endParaRPr lang="en-US" sz="1300" dirty="0"/>
          </a:p>
        </p:txBody>
      </p:sp>
      <p:sp>
        <p:nvSpPr>
          <p:cNvPr id="13" name="poin-124"/>
          <p:cNvSpPr/>
          <p:nvPr/>
        </p:nvSpPr>
        <p:spPr>
          <a:xfrm>
            <a:off x="685800" y="4901184"/>
            <a:ext cx="128016" cy="128016"/>
          </a:xfrm>
          <a:prstGeom prst="ellipse">
            <a:avLst/>
          </a:prstGeom>
          <a:solidFill>
            <a:schemeClr val="accent2"/>
          </a:solidFill>
          <a:ln/>
        </p:spPr>
      </p:sp>
      <p:sp>
        <p:nvSpPr>
          <p:cNvPr id="14" name="teks-125"/>
          <p:cNvSpPr txBox="1"/>
          <p:nvPr/>
        </p:nvSpPr>
        <p:spPr>
          <a:xfrm>
            <a:off x="960120" y="4800600"/>
            <a:ext cx="3520440" cy="310896"/>
          </a:xfrm>
          <a:prstGeom prst="rect">
            <a:avLst/>
          </a:prstGeom>
          <a:noFill/>
          <a:ln/>
        </p:spPr>
        <p:txBody>
          <a:bodyPr wrap="square" lIns="0" tIns="0" rIns="0" bIns="0" rtlCol="0" anchor="t"/>
          <a:lstStyle/>
          <a:p>
            <a:pPr indent="0" marL="0">
              <a:buNone/>
            </a:pPr>
            <a:r>
              <a:rPr lang="en-US" sz="1500" b="1" dirty="0">
                <a:solidFill>
                  <a:schemeClr val="tx1"/>
                </a:solidFill>
              </a:rPr>
              <a:t>Status PA</a:t>
            </a:r>
            <a:endParaRPr lang="en-US" sz="1500" dirty="0"/>
          </a:p>
        </p:txBody>
      </p:sp>
      <p:sp>
        <p:nvSpPr>
          <p:cNvPr id="15" name="teks-126"/>
          <p:cNvSpPr txBox="1"/>
          <p:nvPr/>
        </p:nvSpPr>
        <p:spPr>
          <a:xfrm>
            <a:off x="960120" y="513892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Hijau </a:t>
            </a:r>
            <a:pPr indent="0" marL="0">
              <a:buNone/>
            </a:pPr>
            <a:r>
              <a:rPr lang="en-US" sz="1300" b="1" dirty="0">
                <a:solidFill>
                  <a:schemeClr val="accent6"/>
                </a:solidFill>
              </a:rPr>
              <a:t>Disetujui PA</a:t>
            </a:r>
            <a:pPr indent="0" marL="0">
              <a:buNone/>
            </a:pPr>
            <a:r>
              <a:rPr lang="en-US" sz="1300" dirty="0">
                <a:solidFill>
                  <a:schemeClr val="accent6"/>
                </a:solidFill>
              </a:rPr>
              <a:t>; kuning </a:t>
            </a:r>
            <a:pPr indent="0" marL="0">
              <a:buNone/>
            </a:pPr>
            <a:r>
              <a:rPr lang="en-US" sz="1300" b="1" dirty="0">
                <a:solidFill>
                  <a:schemeClr val="accent6"/>
                </a:solidFill>
              </a:rPr>
              <a:t>Menunggu PA</a:t>
            </a:r>
            <a:pPr indent="0" marL="0">
              <a:buNone/>
            </a:pPr>
            <a:r>
              <a:rPr lang="en-US" sz="1300" dirty="0">
                <a:solidFill>
                  <a:schemeClr val="accent6"/>
                </a:solidFill>
              </a:rPr>
              <a:t> (belum disetujui dosen PA).</a:t>
            </a:r>
            <a:endParaRPr lang="en-US" sz="1300" dirty="0"/>
          </a:p>
        </p:txBody>
      </p:sp>
      <p:sp>
        <p:nvSpPr>
          <p:cNvPr id="16" name="bingkai-127"/>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128" descr="Halaman Kartu Rencana Studi">    </p:cNvPr>
          <p:cNvPicPr>
            <a:picLocks noChangeAspect="1"/>
          </p:cNvPicPr>
          <p:nvPr/>
        </p:nvPicPr>
        <p:blipFill>
          <a:blip r:embed="rId1"/>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TATA CARA KONTRAK KRS · 1 DARI 3</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Sebelum mulai: pastikan SPP sudah memenuhi</a:t>
            </a:r>
            <a:endParaRPr lang="en-US" sz="3400" dirty="0"/>
          </a:p>
        </p:txBody>
      </p:sp>
      <p:sp>
        <p:nvSpPr>
          <p:cNvPr id="4" name="kartu-129"/>
          <p:cNvSpPr/>
          <p:nvPr/>
        </p:nvSpPr>
        <p:spPr>
          <a:xfrm>
            <a:off x="685800" y="1874520"/>
            <a:ext cx="4206240" cy="4251960"/>
          </a:xfrm>
          <a:prstGeom prst="roundRect">
            <a:avLst>
              <a:gd name="adj" fmla="val 3043"/>
            </a:avLst>
          </a:prstGeom>
          <a:solidFill>
            <a:schemeClr val="tx2"/>
          </a:solidFill>
          <a:ln/>
          <a:effectLst>
            <a:outerShdw sx="100000" sy="100000" kx="0" ky="0" algn="bl" rotWithShape="0" blurRad="101600" dist="25400" dir="5400000">
              <a:srgbClr val="172554">
                <a:alpha val="8000"/>
              </a:srgbClr>
            </a:outerShdw>
          </a:effectLst>
        </p:spPr>
      </p:sp>
      <p:pic>
        <p:nvPicPr>
          <p:cNvPr id="5" name="ikon-kunci"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6" name="teks-130"/>
          <p:cNvSpPr txBox="1"/>
          <p:nvPr/>
        </p:nvSpPr>
        <p:spPr>
          <a:xfrm>
            <a:off x="1051560" y="2743200"/>
            <a:ext cx="347472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SYARAT WAJIB</a:t>
            </a:r>
            <a:endParaRPr lang="en-US" sz="1300" dirty="0"/>
          </a:p>
        </p:txBody>
      </p:sp>
      <p:sp>
        <p:nvSpPr>
          <p:cNvPr id="7" name="teks-131"/>
          <p:cNvSpPr txBox="1"/>
          <p:nvPr/>
        </p:nvSpPr>
        <p:spPr>
          <a:xfrm>
            <a:off x="1051560" y="3017520"/>
            <a:ext cx="3474720" cy="822960"/>
          </a:xfrm>
          <a:prstGeom prst="rect">
            <a:avLst/>
          </a:prstGeom>
          <a:noFill/>
          <a:ln/>
        </p:spPr>
        <p:txBody>
          <a:bodyPr wrap="square" lIns="0" tIns="0" rIns="0" bIns="0" rtlCol="0" anchor="t"/>
          <a:lstStyle/>
          <a:p>
            <a:pPr indent="0" marL="0">
              <a:buNone/>
            </a:pPr>
            <a:r>
              <a:rPr lang="en-US" sz="5400" b="1" dirty="0">
                <a:solidFill>
                  <a:schemeClr val="bg1"/>
                </a:solidFill>
              </a:rPr>
              <a:t>60%</a:t>
            </a:r>
            <a:endParaRPr lang="en-US" sz="5400" dirty="0"/>
          </a:p>
        </p:txBody>
      </p:sp>
      <p:sp>
        <p:nvSpPr>
          <p:cNvPr id="8" name="teks-132"/>
          <p:cNvSpPr txBox="1"/>
          <p:nvPr/>
        </p:nvSpPr>
        <p:spPr>
          <a:xfrm>
            <a:off x="1051560" y="3931920"/>
            <a:ext cx="3474720" cy="1188720"/>
          </a:xfrm>
          <a:prstGeom prst="rect">
            <a:avLst/>
          </a:prstGeom>
          <a:noFill/>
          <a:ln/>
        </p:spPr>
        <p:txBody>
          <a:bodyPr wrap="square" lIns="0" tIns="0" rIns="0" bIns="0" rtlCol="0" anchor="t"/>
          <a:lstStyle/>
          <a:p>
            <a:pPr indent="0" marL="0">
              <a:buNone/>
            </a:pPr>
            <a:r>
              <a:rPr lang="en-US" sz="1400" dirty="0">
                <a:solidFill>
                  <a:srgbClr val="BFDBFE"/>
                </a:solidFill>
              </a:rPr>
              <a:t>SPP tahun akademik aktif minimal sudah dibayar 60%. Bayar memakai Kode Bayar / VA yang ada di Dashboard atau Riwayat Tagihan.</a:t>
            </a:r>
            <a:endParaRPr lang="en-US" sz="1400" dirty="0"/>
          </a:p>
        </p:txBody>
      </p:sp>
      <p:sp>
        <p:nvSpPr>
          <p:cNvPr id="9" name="teks-133"/>
          <p:cNvSpPr txBox="1"/>
          <p:nvPr/>
        </p:nvSpPr>
        <p:spPr>
          <a:xfrm>
            <a:off x="1051560" y="5212080"/>
            <a:ext cx="3474720" cy="777240"/>
          </a:xfrm>
          <a:prstGeom prst="rect">
            <a:avLst/>
          </a:prstGeom>
          <a:noFill/>
          <a:ln/>
        </p:spPr>
        <p:txBody>
          <a:bodyPr wrap="square" lIns="0" tIns="0" rIns="0" bIns="0" rtlCol="0" anchor="t"/>
          <a:lstStyle/>
          <a:p>
            <a:pPr indent="0" marL="0">
              <a:buNone/>
            </a:pPr>
            <a:r>
              <a:rPr lang="en-US" sz="1200" dirty="0">
                <a:solidFill>
                  <a:srgbClr val="93C5FD"/>
                </a:solidFill>
              </a:rPr>
              <a:t>Penerima beasiswa penuh terverifikasi dikecualikan: tagihan SPP dihapus otomatis saat membuka Kontrak KRS.</a:t>
            </a:r>
            <a:endParaRPr lang="en-US" sz="1200" dirty="0"/>
          </a:p>
        </p:txBody>
      </p:sp>
      <p:sp>
        <p:nvSpPr>
          <p:cNvPr id="10" name="teks-134"/>
          <p:cNvSpPr txBox="1"/>
          <p:nvPr/>
        </p:nvSpPr>
        <p:spPr>
          <a:xfrm>
            <a:off x="5212080" y="1874520"/>
            <a:ext cx="6291072" cy="365760"/>
          </a:xfrm>
          <a:prstGeom prst="rect">
            <a:avLst/>
          </a:prstGeom>
          <a:noFill/>
          <a:ln/>
        </p:spPr>
        <p:txBody>
          <a:bodyPr wrap="square" lIns="0" tIns="0" rIns="0" bIns="0" rtlCol="0" anchor="t"/>
          <a:lstStyle/>
          <a:p>
            <a:pPr indent="0" marL="0">
              <a:buNone/>
            </a:pPr>
            <a:r>
              <a:rPr lang="en-US" sz="1500" b="1" dirty="0">
                <a:solidFill>
                  <a:srgbClr val="334155"/>
                </a:solidFill>
              </a:rPr>
              <a:t>Saat halaman Kontrak KRS dibuka, muncul salah satu dari tiga tampilan ini:</a:t>
            </a:r>
            <a:endParaRPr lang="en-US" sz="1500" dirty="0"/>
          </a:p>
        </p:txBody>
      </p:sp>
      <p:sp>
        <p:nvSpPr>
          <p:cNvPr id="11" name="kartu-135"/>
          <p:cNvSpPr/>
          <p:nvPr/>
        </p:nvSpPr>
        <p:spPr>
          <a:xfrm>
            <a:off x="5212080" y="2377440"/>
            <a:ext cx="6291072" cy="1143000"/>
          </a:xfrm>
          <a:prstGeom prst="roundRect">
            <a:avLst>
              <a:gd name="adj" fmla="val 112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12" name="latar-ikon-136"/>
          <p:cNvSpPr/>
          <p:nvPr/>
        </p:nvSpPr>
        <p:spPr>
          <a:xfrm>
            <a:off x="5486400" y="2651760"/>
            <a:ext cx="566928" cy="566928"/>
          </a:xfrm>
          <a:prstGeom prst="roundRect">
            <a:avLst>
              <a:gd name="adj" fmla="val 25000"/>
            </a:avLst>
          </a:prstGeom>
          <a:solidFill>
            <a:srgbClr val="DCFCE7"/>
          </a:solidFill>
          <a:ln/>
        </p:spPr>
      </p:sp>
      <p:pic>
        <p:nvPicPr>
          <p:cNvPr id="13" name="ikon-137" descr="preencoded.png">    </p:cNvPr>
          <p:cNvPicPr>
            <a:picLocks noChangeAspect="1"/>
          </p:cNvPicPr>
          <p:nvPr/>
        </p:nvPicPr>
        <p:blipFill>
          <a:blip r:embed="rId2"/>
          <a:stretch>
            <a:fillRect/>
          </a:stretch>
        </p:blipFill>
        <p:spPr>
          <a:xfrm>
            <a:off x="5611124" y="2776484"/>
            <a:ext cx="317480" cy="317480"/>
          </a:xfrm>
          <a:prstGeom prst="rect">
            <a:avLst/>
          </a:prstGeom>
        </p:spPr>
      </p:pic>
      <p:sp>
        <p:nvSpPr>
          <p:cNvPr id="14" name="teks-138"/>
          <p:cNvSpPr txBox="1"/>
          <p:nvPr/>
        </p:nvSpPr>
        <p:spPr>
          <a:xfrm>
            <a:off x="6263640" y="2560320"/>
            <a:ext cx="5010912" cy="329184"/>
          </a:xfrm>
          <a:prstGeom prst="rect">
            <a:avLst/>
          </a:prstGeom>
          <a:noFill/>
          <a:ln/>
        </p:spPr>
        <p:txBody>
          <a:bodyPr wrap="square" lIns="0" tIns="0" rIns="0" bIns="0" rtlCol="0" anchor="t"/>
          <a:lstStyle/>
          <a:p>
            <a:pPr indent="0" marL="0">
              <a:buNone/>
            </a:pPr>
            <a:r>
              <a:rPr lang="en-US" sz="1600" b="1" dirty="0">
                <a:solidFill>
                  <a:schemeClr val="tx1"/>
                </a:solidFill>
              </a:rPr>
              <a:t>Daftar jadwal per semester</a:t>
            </a:r>
            <a:endParaRPr lang="en-US" sz="1600" dirty="0"/>
          </a:p>
        </p:txBody>
      </p:sp>
      <p:sp>
        <p:nvSpPr>
          <p:cNvPr id="15" name="teks-139"/>
          <p:cNvSpPr txBox="1"/>
          <p:nvPr/>
        </p:nvSpPr>
        <p:spPr>
          <a:xfrm>
            <a:off x="6263640" y="2907792"/>
            <a:ext cx="5010912" cy="548640"/>
          </a:xfrm>
          <a:prstGeom prst="rect">
            <a:avLst/>
          </a:prstGeom>
          <a:noFill/>
          <a:ln/>
        </p:spPr>
        <p:txBody>
          <a:bodyPr wrap="square" lIns="0" tIns="0" rIns="0" bIns="0" rtlCol="0" anchor="t"/>
          <a:lstStyle/>
          <a:p>
            <a:pPr indent="0" marL="0">
              <a:buNone/>
            </a:pPr>
            <a:r>
              <a:rPr lang="en-US" sz="1300" dirty="0">
                <a:solidFill>
                  <a:schemeClr val="accent6"/>
                </a:solidFill>
              </a:rPr>
              <a:t>SPP sudah memenuhi. Lanjut ke langkah kontrak.</a:t>
            </a:r>
            <a:endParaRPr lang="en-US" sz="1300" dirty="0"/>
          </a:p>
        </p:txBody>
      </p:sp>
      <p:sp>
        <p:nvSpPr>
          <p:cNvPr id="16" name="kartu-140"/>
          <p:cNvSpPr/>
          <p:nvPr/>
        </p:nvSpPr>
        <p:spPr>
          <a:xfrm>
            <a:off x="5212080" y="3657600"/>
            <a:ext cx="6291072" cy="1143000"/>
          </a:xfrm>
          <a:prstGeom prst="roundRect">
            <a:avLst>
              <a:gd name="adj" fmla="val 112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17" name="latar-ikon-141"/>
          <p:cNvSpPr/>
          <p:nvPr/>
        </p:nvSpPr>
        <p:spPr>
          <a:xfrm>
            <a:off x="5486400" y="3931920"/>
            <a:ext cx="566928" cy="566928"/>
          </a:xfrm>
          <a:prstGeom prst="roundRect">
            <a:avLst>
              <a:gd name="adj" fmla="val 25000"/>
            </a:avLst>
          </a:prstGeom>
          <a:solidFill>
            <a:srgbClr val="FEF3C7"/>
          </a:solidFill>
          <a:ln/>
        </p:spPr>
      </p:sp>
      <p:pic>
        <p:nvPicPr>
          <p:cNvPr id="18" name="ikon-142" descr="preencoded.png">    </p:cNvPr>
          <p:cNvPicPr>
            <a:picLocks noChangeAspect="1"/>
          </p:cNvPicPr>
          <p:nvPr/>
        </p:nvPicPr>
        <p:blipFill>
          <a:blip r:embed="rId3"/>
          <a:stretch>
            <a:fillRect/>
          </a:stretch>
        </p:blipFill>
        <p:spPr>
          <a:xfrm>
            <a:off x="5611124" y="4056644"/>
            <a:ext cx="317480" cy="317480"/>
          </a:xfrm>
          <a:prstGeom prst="rect">
            <a:avLst/>
          </a:prstGeom>
        </p:spPr>
      </p:pic>
      <p:sp>
        <p:nvSpPr>
          <p:cNvPr id="19" name="teks-143"/>
          <p:cNvSpPr txBox="1"/>
          <p:nvPr/>
        </p:nvSpPr>
        <p:spPr>
          <a:xfrm>
            <a:off x="6263640" y="3840480"/>
            <a:ext cx="5010912" cy="329184"/>
          </a:xfrm>
          <a:prstGeom prst="rect">
            <a:avLst/>
          </a:prstGeom>
          <a:noFill/>
          <a:ln/>
        </p:spPr>
        <p:txBody>
          <a:bodyPr wrap="square" lIns="0" tIns="0" rIns="0" bIns="0" rtlCol="0" anchor="t"/>
          <a:lstStyle/>
          <a:p>
            <a:pPr indent="0" marL="0">
              <a:buNone/>
            </a:pPr>
            <a:r>
              <a:rPr lang="en-US" sz="1600" b="1" dirty="0">
                <a:solidFill>
                  <a:schemeClr val="tx1"/>
                </a:solidFill>
              </a:rPr>
              <a:t>“Anda belum bisa kontrak KRS”</a:t>
            </a:r>
            <a:endParaRPr lang="en-US" sz="1600" dirty="0"/>
          </a:p>
        </p:txBody>
      </p:sp>
      <p:sp>
        <p:nvSpPr>
          <p:cNvPr id="20" name="teks-144"/>
          <p:cNvSpPr txBox="1"/>
          <p:nvPr/>
        </p:nvSpPr>
        <p:spPr>
          <a:xfrm>
            <a:off x="6263640" y="4187952"/>
            <a:ext cx="5010912" cy="548640"/>
          </a:xfrm>
          <a:prstGeom prst="rect">
            <a:avLst/>
          </a:prstGeom>
          <a:noFill/>
          <a:ln/>
        </p:spPr>
        <p:txBody>
          <a:bodyPr wrap="square" lIns="0" tIns="0" rIns="0" bIns="0" rtlCol="0" anchor="t"/>
          <a:lstStyle/>
          <a:p>
            <a:pPr indent="0" marL="0">
              <a:buNone/>
            </a:pPr>
            <a:r>
              <a:rPr lang="en-US" sz="1300" dirty="0">
                <a:solidFill>
                  <a:schemeClr val="accent6"/>
                </a:solidFill>
              </a:rPr>
              <a:t>Persentase SPP Anda ikut ditampilkan. Klik “Lihat &amp; bayar tagihan”, bayar, lalu buka lagi halaman ini.</a:t>
            </a:r>
            <a:endParaRPr lang="en-US" sz="1300" dirty="0"/>
          </a:p>
        </p:txBody>
      </p:sp>
      <p:sp>
        <p:nvSpPr>
          <p:cNvPr id="21" name="kartu-145"/>
          <p:cNvSpPr/>
          <p:nvPr/>
        </p:nvSpPr>
        <p:spPr>
          <a:xfrm>
            <a:off x="5212080" y="4937760"/>
            <a:ext cx="6291072" cy="1143000"/>
          </a:xfrm>
          <a:prstGeom prst="roundRect">
            <a:avLst>
              <a:gd name="adj" fmla="val 112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22" name="latar-ikon-146"/>
          <p:cNvSpPr/>
          <p:nvPr/>
        </p:nvSpPr>
        <p:spPr>
          <a:xfrm>
            <a:off x="5486400" y="5212080"/>
            <a:ext cx="566928" cy="566928"/>
          </a:xfrm>
          <a:prstGeom prst="roundRect">
            <a:avLst>
              <a:gd name="adj" fmla="val 25000"/>
            </a:avLst>
          </a:prstGeom>
          <a:solidFill>
            <a:srgbClr val="FEE2E2"/>
          </a:solidFill>
          <a:ln/>
        </p:spPr>
      </p:sp>
      <p:pic>
        <p:nvPicPr>
          <p:cNvPr id="23" name="ikon-147" descr="preencoded.png">    </p:cNvPr>
          <p:cNvPicPr>
            <a:picLocks noChangeAspect="1"/>
          </p:cNvPicPr>
          <p:nvPr/>
        </p:nvPicPr>
        <p:blipFill>
          <a:blip r:embed="rId4"/>
          <a:stretch>
            <a:fillRect/>
          </a:stretch>
        </p:blipFill>
        <p:spPr>
          <a:xfrm>
            <a:off x="5611124" y="5336804"/>
            <a:ext cx="317480" cy="317480"/>
          </a:xfrm>
          <a:prstGeom prst="rect">
            <a:avLst/>
          </a:prstGeom>
        </p:spPr>
      </p:pic>
      <p:sp>
        <p:nvSpPr>
          <p:cNvPr id="24" name="teks-148"/>
          <p:cNvSpPr txBox="1"/>
          <p:nvPr/>
        </p:nvSpPr>
        <p:spPr>
          <a:xfrm>
            <a:off x="6263640" y="5120640"/>
            <a:ext cx="5010912" cy="329184"/>
          </a:xfrm>
          <a:prstGeom prst="rect">
            <a:avLst/>
          </a:prstGeom>
          <a:noFill/>
          <a:ln/>
        </p:spPr>
        <p:txBody>
          <a:bodyPr wrap="square" lIns="0" tIns="0" rIns="0" bIns="0" rtlCol="0" anchor="t"/>
          <a:lstStyle/>
          <a:p>
            <a:pPr indent="0" marL="0">
              <a:buNone/>
            </a:pPr>
            <a:r>
              <a:rPr lang="en-US" sz="1600" b="1" dirty="0">
                <a:solidFill>
                  <a:schemeClr val="tx1"/>
                </a:solidFill>
              </a:rPr>
              <a:t>“Status pembayaran belum bisa dicek”</a:t>
            </a:r>
            <a:endParaRPr lang="en-US" sz="1600" dirty="0"/>
          </a:p>
        </p:txBody>
      </p:sp>
      <p:sp>
        <p:nvSpPr>
          <p:cNvPr id="25" name="teks-149"/>
          <p:cNvSpPr txBox="1"/>
          <p:nvPr/>
        </p:nvSpPr>
        <p:spPr>
          <a:xfrm>
            <a:off x="6263640" y="5468112"/>
            <a:ext cx="5010912" cy="548640"/>
          </a:xfrm>
          <a:prstGeom prst="rect">
            <a:avLst/>
          </a:prstGeom>
          <a:noFill/>
          <a:ln/>
        </p:spPr>
        <p:txBody>
          <a:bodyPr wrap="square" lIns="0" tIns="0" rIns="0" bIns="0" rtlCol="0" anchor="t"/>
          <a:lstStyle/>
          <a:p>
            <a:pPr indent="0" marL="0">
              <a:buNone/>
            </a:pPr>
            <a:r>
              <a:rPr lang="en-US" sz="1300" dirty="0">
                <a:solidFill>
                  <a:schemeClr val="accent6"/>
                </a:solidFill>
              </a:rPr>
              <a:t>Gangguan sistem, bukan kesalahan Anda. Klik tombol “Coba lagi”.</a:t>
            </a:r>
            <a:endParaRPr lang="en-US" sz="13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TATA CARA KONTRAK KRS · 2 DARI 3</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Delapan langkah mengontrak mata kuliah</a:t>
            </a:r>
            <a:endParaRPr lang="en-US" sz="3400" dirty="0"/>
          </a:p>
        </p:txBody>
      </p:sp>
      <p:sp>
        <p:nvSpPr>
          <p:cNvPr id="4" name="kartu-150"/>
          <p:cNvSpPr/>
          <p:nvPr/>
        </p:nvSpPr>
        <p:spPr>
          <a:xfrm>
            <a:off x="685800" y="1874520"/>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5" name="nomor-151"/>
          <p:cNvSpPr/>
          <p:nvPr/>
        </p:nvSpPr>
        <p:spPr>
          <a:xfrm>
            <a:off x="914400" y="2112264"/>
            <a:ext cx="438912" cy="438912"/>
          </a:xfrm>
          <a:prstGeom prst="ellipse">
            <a:avLst/>
          </a:prstGeom>
          <a:solidFill>
            <a:schemeClr val="accent1"/>
          </a:solidFill>
          <a:ln/>
        </p:spPr>
      </p:sp>
      <p:sp>
        <p:nvSpPr>
          <p:cNvPr id="6" name="teks-152"/>
          <p:cNvSpPr txBox="1"/>
          <p:nvPr/>
        </p:nvSpPr>
        <p:spPr>
          <a:xfrm>
            <a:off x="914400" y="211226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ks-153"/>
          <p:cNvSpPr txBox="1"/>
          <p:nvPr/>
        </p:nvSpPr>
        <p:spPr>
          <a:xfrm>
            <a:off x="1554480" y="2002536"/>
            <a:ext cx="4174236" cy="310896"/>
          </a:xfrm>
          <a:prstGeom prst="rect">
            <a:avLst/>
          </a:prstGeom>
          <a:noFill/>
          <a:ln/>
        </p:spPr>
        <p:txBody>
          <a:bodyPr wrap="square" lIns="0" tIns="0" rIns="0" bIns="0" rtlCol="0" anchor="t"/>
          <a:lstStyle/>
          <a:p>
            <a:pPr indent="0" marL="0">
              <a:buNone/>
            </a:pPr>
            <a:r>
              <a:rPr lang="en-US" sz="1600" b="1" dirty="0">
                <a:solidFill>
                  <a:schemeClr val="tx1"/>
                </a:solidFill>
              </a:rPr>
              <a:t>Buka menu KRS</a:t>
            </a:r>
            <a:endParaRPr lang="en-US" sz="1600" dirty="0"/>
          </a:p>
        </p:txBody>
      </p:sp>
      <p:sp>
        <p:nvSpPr>
          <p:cNvPr id="8" name="teks-154"/>
          <p:cNvSpPr txBox="1"/>
          <p:nvPr/>
        </p:nvSpPr>
        <p:spPr>
          <a:xfrm>
            <a:off x="1554480" y="2331720"/>
            <a:ext cx="4174236" cy="384048"/>
          </a:xfrm>
          <a:prstGeom prst="rect">
            <a:avLst/>
          </a:prstGeom>
          <a:noFill/>
          <a:ln/>
        </p:spPr>
        <p:txBody>
          <a:bodyPr wrap="square" lIns="0" tIns="0" rIns="0" bIns="0" rtlCol="0" anchor="t"/>
          <a:lstStyle/>
          <a:p>
            <a:pPr indent="0" marL="0">
              <a:buNone/>
            </a:pPr>
            <a:r>
              <a:rPr lang="en-US" sz="1300" dirty="0">
                <a:solidFill>
                  <a:schemeClr val="accent6"/>
                </a:solidFill>
              </a:rPr>
              <a:t>Sidebar › Akademik › KRS.</a:t>
            </a:r>
            <a:endParaRPr lang="en-US" sz="1300" dirty="0"/>
          </a:p>
        </p:txBody>
      </p:sp>
      <p:sp>
        <p:nvSpPr>
          <p:cNvPr id="9" name="kartu-155"/>
          <p:cNvSpPr/>
          <p:nvPr/>
        </p:nvSpPr>
        <p:spPr>
          <a:xfrm>
            <a:off x="685800" y="2944368"/>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10" name="nomor-156"/>
          <p:cNvSpPr/>
          <p:nvPr/>
        </p:nvSpPr>
        <p:spPr>
          <a:xfrm>
            <a:off x="914400" y="3182112"/>
            <a:ext cx="438912" cy="438912"/>
          </a:xfrm>
          <a:prstGeom prst="ellipse">
            <a:avLst/>
          </a:prstGeom>
          <a:solidFill>
            <a:schemeClr val="accent1"/>
          </a:solidFill>
          <a:ln/>
        </p:spPr>
      </p:sp>
      <p:sp>
        <p:nvSpPr>
          <p:cNvPr id="11" name="teks-157"/>
          <p:cNvSpPr txBox="1"/>
          <p:nvPr/>
        </p:nvSpPr>
        <p:spPr>
          <a:xfrm>
            <a:off x="914400" y="318211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ks-158"/>
          <p:cNvSpPr txBox="1"/>
          <p:nvPr/>
        </p:nvSpPr>
        <p:spPr>
          <a:xfrm>
            <a:off x="1554480" y="3072384"/>
            <a:ext cx="4174236" cy="310896"/>
          </a:xfrm>
          <a:prstGeom prst="rect">
            <a:avLst/>
          </a:prstGeom>
          <a:noFill/>
          <a:ln/>
        </p:spPr>
        <p:txBody>
          <a:bodyPr wrap="square" lIns="0" tIns="0" rIns="0" bIns="0" rtlCol="0" anchor="t"/>
          <a:lstStyle/>
          <a:p>
            <a:pPr indent="0" marL="0">
              <a:buNone/>
            </a:pPr>
            <a:r>
              <a:rPr lang="en-US" sz="1600" b="1" dirty="0">
                <a:solidFill>
                  <a:schemeClr val="tx1"/>
                </a:solidFill>
              </a:rPr>
              <a:t>Klik Kontrak KRS</a:t>
            </a:r>
            <a:endParaRPr lang="en-US" sz="1600" dirty="0"/>
          </a:p>
        </p:txBody>
      </p:sp>
      <p:sp>
        <p:nvSpPr>
          <p:cNvPr id="13" name="teks-159"/>
          <p:cNvSpPr txBox="1"/>
          <p:nvPr/>
        </p:nvSpPr>
        <p:spPr>
          <a:xfrm>
            <a:off x="1554480" y="3401568"/>
            <a:ext cx="4174236" cy="384048"/>
          </a:xfrm>
          <a:prstGeom prst="rect">
            <a:avLst/>
          </a:prstGeom>
          <a:noFill/>
          <a:ln/>
        </p:spPr>
        <p:txBody>
          <a:bodyPr wrap="square" lIns="0" tIns="0" rIns="0" bIns="0" rtlCol="0" anchor="t"/>
          <a:lstStyle/>
          <a:p>
            <a:pPr indent="0" marL="0">
              <a:buNone/>
            </a:pPr>
            <a:r>
              <a:rPr lang="en-US" sz="1300" dirty="0">
                <a:solidFill>
                  <a:schemeClr val="accent6"/>
                </a:solidFill>
              </a:rPr>
              <a:t>Tombol biru di kanan atas halaman KRS.</a:t>
            </a:r>
            <a:endParaRPr lang="en-US" sz="1300" dirty="0"/>
          </a:p>
        </p:txBody>
      </p:sp>
      <p:sp>
        <p:nvSpPr>
          <p:cNvPr id="14" name="kartu-160"/>
          <p:cNvSpPr/>
          <p:nvPr/>
        </p:nvSpPr>
        <p:spPr>
          <a:xfrm>
            <a:off x="685800" y="4014216"/>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15" name="nomor-161"/>
          <p:cNvSpPr/>
          <p:nvPr/>
        </p:nvSpPr>
        <p:spPr>
          <a:xfrm>
            <a:off x="914400" y="4251960"/>
            <a:ext cx="438912" cy="438912"/>
          </a:xfrm>
          <a:prstGeom prst="ellipse">
            <a:avLst/>
          </a:prstGeom>
          <a:solidFill>
            <a:schemeClr val="accent1"/>
          </a:solidFill>
          <a:ln/>
        </p:spPr>
      </p:sp>
      <p:sp>
        <p:nvSpPr>
          <p:cNvPr id="16" name="teks-162"/>
          <p:cNvSpPr txBox="1"/>
          <p:nvPr/>
        </p:nvSpPr>
        <p:spPr>
          <a:xfrm>
            <a:off x="914400" y="42519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ks-163"/>
          <p:cNvSpPr txBox="1"/>
          <p:nvPr/>
        </p:nvSpPr>
        <p:spPr>
          <a:xfrm>
            <a:off x="1554480" y="4142232"/>
            <a:ext cx="4174236" cy="310896"/>
          </a:xfrm>
          <a:prstGeom prst="rect">
            <a:avLst/>
          </a:prstGeom>
          <a:noFill/>
          <a:ln/>
        </p:spPr>
        <p:txBody>
          <a:bodyPr wrap="square" lIns="0" tIns="0" rIns="0" bIns="0" rtlCol="0" anchor="t"/>
          <a:lstStyle/>
          <a:p>
            <a:pPr indent="0" marL="0">
              <a:buNone/>
            </a:pPr>
            <a:r>
              <a:rPr lang="en-US" sz="1600" b="1" dirty="0">
                <a:solidFill>
                  <a:schemeClr val="tx1"/>
                </a:solidFill>
              </a:rPr>
              <a:t>Tunggu pengecekan SPP</a:t>
            </a:r>
            <a:endParaRPr lang="en-US" sz="1600" dirty="0"/>
          </a:p>
        </p:txBody>
      </p:sp>
      <p:sp>
        <p:nvSpPr>
          <p:cNvPr id="18" name="teks-164"/>
          <p:cNvSpPr txBox="1"/>
          <p:nvPr/>
        </p:nvSpPr>
        <p:spPr>
          <a:xfrm>
            <a:off x="1554480" y="4471416"/>
            <a:ext cx="4174236" cy="384048"/>
          </a:xfrm>
          <a:prstGeom prst="rect">
            <a:avLst/>
          </a:prstGeom>
          <a:noFill/>
          <a:ln/>
        </p:spPr>
        <p:txBody>
          <a:bodyPr wrap="square" lIns="0" tIns="0" rIns="0" bIns="0" rtlCol="0" anchor="t"/>
          <a:lstStyle/>
          <a:p>
            <a:pPr indent="0" marL="0">
              <a:buNone/>
            </a:pPr>
            <a:r>
              <a:rPr lang="en-US" sz="1300" dirty="0">
                <a:solidFill>
                  <a:schemeClr val="accent6"/>
                </a:solidFill>
              </a:rPr>
              <a:t>Jika lolos, daftar jadwal yang tersedia muncul.</a:t>
            </a:r>
            <a:endParaRPr lang="en-US" sz="1300" dirty="0"/>
          </a:p>
        </p:txBody>
      </p:sp>
      <p:sp>
        <p:nvSpPr>
          <p:cNvPr id="19" name="kartu-165"/>
          <p:cNvSpPr/>
          <p:nvPr/>
        </p:nvSpPr>
        <p:spPr>
          <a:xfrm>
            <a:off x="685800" y="5084064"/>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20" name="nomor-166"/>
          <p:cNvSpPr/>
          <p:nvPr/>
        </p:nvSpPr>
        <p:spPr>
          <a:xfrm>
            <a:off x="914400" y="5321808"/>
            <a:ext cx="438912" cy="438912"/>
          </a:xfrm>
          <a:prstGeom prst="ellipse">
            <a:avLst/>
          </a:prstGeom>
          <a:solidFill>
            <a:schemeClr val="accent1"/>
          </a:solidFill>
          <a:ln/>
        </p:spPr>
      </p:sp>
      <p:sp>
        <p:nvSpPr>
          <p:cNvPr id="21" name="teks-167"/>
          <p:cNvSpPr txBox="1"/>
          <p:nvPr/>
        </p:nvSpPr>
        <p:spPr>
          <a:xfrm>
            <a:off x="914400" y="532180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ks-168"/>
          <p:cNvSpPr txBox="1"/>
          <p:nvPr/>
        </p:nvSpPr>
        <p:spPr>
          <a:xfrm>
            <a:off x="1554480" y="5212080"/>
            <a:ext cx="4174236" cy="310896"/>
          </a:xfrm>
          <a:prstGeom prst="rect">
            <a:avLst/>
          </a:prstGeom>
          <a:noFill/>
          <a:ln/>
        </p:spPr>
        <p:txBody>
          <a:bodyPr wrap="square" lIns="0" tIns="0" rIns="0" bIns="0" rtlCol="0" anchor="t"/>
          <a:lstStyle/>
          <a:p>
            <a:pPr indent="0" marL="0">
              <a:buNone/>
            </a:pPr>
            <a:r>
              <a:rPr lang="en-US" sz="1600" b="1" dirty="0">
                <a:solidFill>
                  <a:schemeClr val="tx1"/>
                </a:solidFill>
              </a:rPr>
              <a:t>Pilih mata kuliah</a:t>
            </a:r>
            <a:endParaRPr lang="en-US" sz="1600" dirty="0"/>
          </a:p>
        </p:txBody>
      </p:sp>
      <p:sp>
        <p:nvSpPr>
          <p:cNvPr id="23" name="teks-169"/>
          <p:cNvSpPr txBox="1"/>
          <p:nvPr/>
        </p:nvSpPr>
        <p:spPr>
          <a:xfrm>
            <a:off x="1554480" y="5541264"/>
            <a:ext cx="4174236" cy="384048"/>
          </a:xfrm>
          <a:prstGeom prst="rect">
            <a:avLst/>
          </a:prstGeom>
          <a:noFill/>
          <a:ln/>
        </p:spPr>
        <p:txBody>
          <a:bodyPr wrap="square" lIns="0" tIns="0" rIns="0" bIns="0" rtlCol="0" anchor="t"/>
          <a:lstStyle/>
          <a:p>
            <a:pPr indent="0" marL="0">
              <a:buNone/>
            </a:pPr>
            <a:r>
              <a:rPr lang="en-US" sz="1300" dirty="0">
                <a:solidFill>
                  <a:schemeClr val="accent6"/>
                </a:solidFill>
              </a:rPr>
              <a:t>Jadwal dikelompokkan per “Semester N”. Cek hari, jam, ruang, dosen.</a:t>
            </a:r>
            <a:endParaRPr lang="en-US" sz="1300" dirty="0"/>
          </a:p>
        </p:txBody>
      </p:sp>
      <p:sp>
        <p:nvSpPr>
          <p:cNvPr id="24" name="kartu-170"/>
          <p:cNvSpPr/>
          <p:nvPr/>
        </p:nvSpPr>
        <p:spPr>
          <a:xfrm>
            <a:off x="6231636" y="1874520"/>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25" name="nomor-171"/>
          <p:cNvSpPr/>
          <p:nvPr/>
        </p:nvSpPr>
        <p:spPr>
          <a:xfrm>
            <a:off x="6460236" y="2112264"/>
            <a:ext cx="438912" cy="438912"/>
          </a:xfrm>
          <a:prstGeom prst="ellipse">
            <a:avLst/>
          </a:prstGeom>
          <a:solidFill>
            <a:schemeClr val="accent1"/>
          </a:solidFill>
          <a:ln/>
        </p:spPr>
      </p:sp>
      <p:sp>
        <p:nvSpPr>
          <p:cNvPr id="26" name="teks-172"/>
          <p:cNvSpPr txBox="1"/>
          <p:nvPr/>
        </p:nvSpPr>
        <p:spPr>
          <a:xfrm>
            <a:off x="6460236" y="211226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ks-173"/>
          <p:cNvSpPr txBox="1"/>
          <p:nvPr/>
        </p:nvSpPr>
        <p:spPr>
          <a:xfrm>
            <a:off x="7100316" y="2002536"/>
            <a:ext cx="4174236" cy="310896"/>
          </a:xfrm>
          <a:prstGeom prst="rect">
            <a:avLst/>
          </a:prstGeom>
          <a:noFill/>
          <a:ln/>
        </p:spPr>
        <p:txBody>
          <a:bodyPr wrap="square" lIns="0" tIns="0" rIns="0" bIns="0" rtlCol="0" anchor="t"/>
          <a:lstStyle/>
          <a:p>
            <a:pPr indent="0" marL="0">
              <a:buNone/>
            </a:pPr>
            <a:r>
              <a:rPr lang="en-US" sz="1600" b="1" dirty="0">
                <a:solidFill>
                  <a:schemeClr val="tx1"/>
                </a:solidFill>
              </a:rPr>
              <a:t>Klik Kontrak di kolom Aksi</a:t>
            </a:r>
            <a:endParaRPr lang="en-US" sz="1600" dirty="0"/>
          </a:p>
        </p:txBody>
      </p:sp>
      <p:sp>
        <p:nvSpPr>
          <p:cNvPr id="28" name="teks-174"/>
          <p:cNvSpPr txBox="1"/>
          <p:nvPr/>
        </p:nvSpPr>
        <p:spPr>
          <a:xfrm>
            <a:off x="7100316" y="2331720"/>
            <a:ext cx="4174236" cy="384048"/>
          </a:xfrm>
          <a:prstGeom prst="rect">
            <a:avLst/>
          </a:prstGeom>
          <a:noFill/>
          <a:ln/>
        </p:spPr>
        <p:txBody>
          <a:bodyPr wrap="square" lIns="0" tIns="0" rIns="0" bIns="0" rtlCol="0" anchor="t"/>
          <a:lstStyle/>
          <a:p>
            <a:pPr indent="0" marL="0">
              <a:buNone/>
            </a:pPr>
            <a:r>
              <a:rPr lang="en-US" sz="1300" dirty="0">
                <a:solidFill>
                  <a:schemeClr val="accent6"/>
                </a:solidFill>
              </a:rPr>
              <a:t>Muncul “✓ Mata kuliah berhasil dikontrak”, baris jadi hijau.</a:t>
            </a:r>
            <a:endParaRPr lang="en-US" sz="1300" dirty="0"/>
          </a:p>
        </p:txBody>
      </p:sp>
      <p:sp>
        <p:nvSpPr>
          <p:cNvPr id="29" name="kartu-175"/>
          <p:cNvSpPr/>
          <p:nvPr/>
        </p:nvSpPr>
        <p:spPr>
          <a:xfrm>
            <a:off x="6231636" y="2944368"/>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30" name="nomor-176"/>
          <p:cNvSpPr/>
          <p:nvPr/>
        </p:nvSpPr>
        <p:spPr>
          <a:xfrm>
            <a:off x="6460236" y="3182112"/>
            <a:ext cx="438912" cy="438912"/>
          </a:xfrm>
          <a:prstGeom prst="ellipse">
            <a:avLst/>
          </a:prstGeom>
          <a:solidFill>
            <a:schemeClr val="accent1"/>
          </a:solidFill>
          <a:ln/>
        </p:spPr>
      </p:sp>
      <p:sp>
        <p:nvSpPr>
          <p:cNvPr id="31" name="teks-177"/>
          <p:cNvSpPr txBox="1"/>
          <p:nvPr/>
        </p:nvSpPr>
        <p:spPr>
          <a:xfrm>
            <a:off x="6460236" y="318211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ks-178"/>
          <p:cNvSpPr txBox="1"/>
          <p:nvPr/>
        </p:nvSpPr>
        <p:spPr>
          <a:xfrm>
            <a:off x="7100316" y="3072384"/>
            <a:ext cx="4174236" cy="310896"/>
          </a:xfrm>
          <a:prstGeom prst="rect">
            <a:avLst/>
          </a:prstGeom>
          <a:noFill/>
          <a:ln/>
        </p:spPr>
        <p:txBody>
          <a:bodyPr wrap="square" lIns="0" tIns="0" rIns="0" bIns="0" rtlCol="0" anchor="t"/>
          <a:lstStyle/>
          <a:p>
            <a:pPr indent="0" marL="0">
              <a:buNone/>
            </a:pPr>
            <a:r>
              <a:rPr lang="en-US" sz="1600" b="1" dirty="0">
                <a:solidFill>
                  <a:schemeClr val="tx1"/>
                </a:solidFill>
              </a:rPr>
              <a:t>Ulangi, lalu cek total</a:t>
            </a:r>
            <a:endParaRPr lang="en-US" sz="1600" dirty="0"/>
          </a:p>
        </p:txBody>
      </p:sp>
      <p:sp>
        <p:nvSpPr>
          <p:cNvPr id="33" name="teks-179"/>
          <p:cNvSpPr txBox="1"/>
          <p:nvPr/>
        </p:nvSpPr>
        <p:spPr>
          <a:xfrm>
            <a:off x="7100316" y="3401568"/>
            <a:ext cx="4174236" cy="384048"/>
          </a:xfrm>
          <a:prstGeom prst="rect">
            <a:avLst/>
          </a:prstGeom>
          <a:noFill/>
          <a:ln/>
        </p:spPr>
        <p:txBody>
          <a:bodyPr wrap="square" lIns="0" tIns="0" rIns="0" bIns="0" rtlCol="0" anchor="t"/>
          <a:lstStyle/>
          <a:p>
            <a:pPr indent="0" marL="0">
              <a:buNone/>
            </a:pPr>
            <a:r>
              <a:rPr lang="en-US" sz="1300" dirty="0">
                <a:solidFill>
                  <a:schemeClr val="accent6"/>
                </a:solidFill>
              </a:rPr>
              <a:t>Pantau Total SKS Dikontrak dan Mata Kuliah Dikontrak.</a:t>
            </a:r>
            <a:endParaRPr lang="en-US" sz="1300" dirty="0"/>
          </a:p>
        </p:txBody>
      </p:sp>
      <p:sp>
        <p:nvSpPr>
          <p:cNvPr id="34" name="kartu-180"/>
          <p:cNvSpPr/>
          <p:nvPr/>
        </p:nvSpPr>
        <p:spPr>
          <a:xfrm>
            <a:off x="6231636" y="4014216"/>
            <a:ext cx="5271516" cy="914400"/>
          </a:xfrm>
          <a:prstGeom prst="roundRect">
            <a:avLst>
              <a:gd name="adj" fmla="val 14000"/>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35" name="nomor-181"/>
          <p:cNvSpPr/>
          <p:nvPr/>
        </p:nvSpPr>
        <p:spPr>
          <a:xfrm>
            <a:off x="6460236" y="4251960"/>
            <a:ext cx="438912" cy="438912"/>
          </a:xfrm>
          <a:prstGeom prst="ellipse">
            <a:avLst/>
          </a:prstGeom>
          <a:solidFill>
            <a:schemeClr val="accent1"/>
          </a:solidFill>
          <a:ln/>
        </p:spPr>
      </p:sp>
      <p:sp>
        <p:nvSpPr>
          <p:cNvPr id="36" name="teks-182"/>
          <p:cNvSpPr txBox="1"/>
          <p:nvPr/>
        </p:nvSpPr>
        <p:spPr>
          <a:xfrm>
            <a:off x="6460236" y="42519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7" name="teks-183"/>
          <p:cNvSpPr txBox="1"/>
          <p:nvPr/>
        </p:nvSpPr>
        <p:spPr>
          <a:xfrm>
            <a:off x="7100316" y="4142232"/>
            <a:ext cx="4174236" cy="310896"/>
          </a:xfrm>
          <a:prstGeom prst="rect">
            <a:avLst/>
          </a:prstGeom>
          <a:noFill/>
          <a:ln/>
        </p:spPr>
        <p:txBody>
          <a:bodyPr wrap="square" lIns="0" tIns="0" rIns="0" bIns="0" rtlCol="0" anchor="t"/>
          <a:lstStyle/>
          <a:p>
            <a:pPr indent="0" marL="0">
              <a:buNone/>
            </a:pPr>
            <a:r>
              <a:rPr lang="en-US" sz="1600" b="1" dirty="0">
                <a:solidFill>
                  <a:schemeClr val="tx1"/>
                </a:solidFill>
              </a:rPr>
              <a:t>Klik Lihat KRS</a:t>
            </a:r>
            <a:endParaRPr lang="en-US" sz="1600" dirty="0"/>
          </a:p>
        </p:txBody>
      </p:sp>
      <p:sp>
        <p:nvSpPr>
          <p:cNvPr id="38" name="teks-184"/>
          <p:cNvSpPr txBox="1"/>
          <p:nvPr/>
        </p:nvSpPr>
        <p:spPr>
          <a:xfrm>
            <a:off x="7100316" y="4471416"/>
            <a:ext cx="4174236" cy="384048"/>
          </a:xfrm>
          <a:prstGeom prst="rect">
            <a:avLst/>
          </a:prstGeom>
          <a:noFill/>
          <a:ln/>
        </p:spPr>
        <p:txBody>
          <a:bodyPr wrap="square" lIns="0" tIns="0" rIns="0" bIns="0" rtlCol="0" anchor="t"/>
          <a:lstStyle/>
          <a:p>
            <a:pPr indent="0" marL="0">
              <a:buNone/>
            </a:pPr>
            <a:r>
              <a:rPr lang="en-US" sz="1300" dirty="0">
                <a:solidFill>
                  <a:schemeClr val="accent6"/>
                </a:solidFill>
              </a:rPr>
              <a:t>Kembali ke halaman KRS. Status awal: “Menunggu PA”.</a:t>
            </a:r>
            <a:endParaRPr lang="en-US" sz="1300" dirty="0"/>
          </a:p>
        </p:txBody>
      </p:sp>
      <p:sp>
        <p:nvSpPr>
          <p:cNvPr id="39" name="kartu-185"/>
          <p:cNvSpPr/>
          <p:nvPr/>
        </p:nvSpPr>
        <p:spPr>
          <a:xfrm>
            <a:off x="6231636" y="5084064"/>
            <a:ext cx="5271516" cy="914400"/>
          </a:xfrm>
          <a:prstGeom prst="roundRect">
            <a:avLst>
              <a:gd name="adj" fmla="val 14000"/>
            </a:avLst>
          </a:prstGeom>
          <a:solidFill>
            <a:srgbClr val="FEF3C7"/>
          </a:solidFill>
          <a:ln/>
          <a:effectLst>
            <a:outerShdw sx="100000" sy="100000" kx="0" ky="0" algn="bl" rotWithShape="0" blurRad="101600" dist="25400" dir="5400000">
              <a:srgbClr val="172554">
                <a:alpha val="8000"/>
              </a:srgbClr>
            </a:outerShdw>
          </a:effectLst>
        </p:spPr>
      </p:sp>
      <p:sp>
        <p:nvSpPr>
          <p:cNvPr id="40" name="nomor-186"/>
          <p:cNvSpPr/>
          <p:nvPr/>
        </p:nvSpPr>
        <p:spPr>
          <a:xfrm>
            <a:off x="6460236" y="5321808"/>
            <a:ext cx="438912" cy="438912"/>
          </a:xfrm>
          <a:prstGeom prst="ellipse">
            <a:avLst/>
          </a:prstGeom>
          <a:solidFill>
            <a:schemeClr val="accent3"/>
          </a:solidFill>
          <a:ln/>
        </p:spPr>
      </p:sp>
      <p:sp>
        <p:nvSpPr>
          <p:cNvPr id="41" name="teks-187"/>
          <p:cNvSpPr txBox="1"/>
          <p:nvPr/>
        </p:nvSpPr>
        <p:spPr>
          <a:xfrm>
            <a:off x="6460236" y="532180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2" name="teks-188"/>
          <p:cNvSpPr txBox="1"/>
          <p:nvPr/>
        </p:nvSpPr>
        <p:spPr>
          <a:xfrm>
            <a:off x="7100316" y="5212080"/>
            <a:ext cx="4174236" cy="310896"/>
          </a:xfrm>
          <a:prstGeom prst="rect">
            <a:avLst/>
          </a:prstGeom>
          <a:noFill/>
          <a:ln/>
        </p:spPr>
        <p:txBody>
          <a:bodyPr wrap="square" lIns="0" tIns="0" rIns="0" bIns="0" rtlCol="0" anchor="t"/>
          <a:lstStyle/>
          <a:p>
            <a:pPr indent="0" marL="0">
              <a:buNone/>
            </a:pPr>
            <a:r>
              <a:rPr lang="en-US" sz="1600" b="1" dirty="0">
                <a:solidFill>
                  <a:srgbClr val="78350F"/>
                </a:solidFill>
              </a:rPr>
              <a:t>Tunggu persetujuan PA</a:t>
            </a:r>
            <a:endParaRPr lang="en-US" sz="1600" dirty="0"/>
          </a:p>
        </p:txBody>
      </p:sp>
      <p:sp>
        <p:nvSpPr>
          <p:cNvPr id="43" name="teks-189"/>
          <p:cNvSpPr txBox="1"/>
          <p:nvPr/>
        </p:nvSpPr>
        <p:spPr>
          <a:xfrm>
            <a:off x="7100316" y="5541264"/>
            <a:ext cx="4174236" cy="384048"/>
          </a:xfrm>
          <a:prstGeom prst="rect">
            <a:avLst/>
          </a:prstGeom>
          <a:noFill/>
          <a:ln/>
        </p:spPr>
        <p:txBody>
          <a:bodyPr wrap="square" lIns="0" tIns="0" rIns="0" bIns="0" rtlCol="0" anchor="t"/>
          <a:lstStyle/>
          <a:p>
            <a:pPr indent="0" marL="0">
              <a:buNone/>
            </a:pPr>
            <a:r>
              <a:rPr lang="en-US" sz="1300" dirty="0">
                <a:solidFill>
                  <a:srgbClr val="78350F"/>
                </a:solidFill>
              </a:rPr>
              <a:t>Setelah “Disetujui PA”, cetak KRS dan cek Jadwal Kuliah.</a:t>
            </a:r>
            <a:endParaRPr lang="en-US" sz="13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TATA CARA KONTRAK KRS · 3 DARI 3</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Mengubah pilihan dan hal yang perlu diperhatikan</a:t>
            </a:r>
            <a:endParaRPr lang="en-US" sz="3400" dirty="0"/>
          </a:p>
        </p:txBody>
      </p:sp>
      <p:sp>
        <p:nvSpPr>
          <p:cNvPr id="4" name="bingkai-190"/>
          <p:cNvSpPr/>
          <p:nvPr/>
        </p:nvSpPr>
        <p:spPr>
          <a:xfrm>
            <a:off x="640080" y="1828800"/>
            <a:ext cx="6766560" cy="2829649"/>
          </a:xfrm>
          <a:prstGeom prst="roundRect">
            <a:avLst>
              <a:gd name="adj" fmla="val 2585"/>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5" name="screenshot-191" descr="Tabel jadwal di halaman Kontrak KRS">    </p:cNvPr>
          <p:cNvPicPr>
            <a:picLocks noChangeAspect="1"/>
          </p:cNvPicPr>
          <p:nvPr/>
        </p:nvPicPr>
        <p:blipFill>
          <a:blip r:embed="rId1"/>
          <a:stretch>
            <a:fillRect/>
          </a:stretch>
        </p:blipFill>
        <p:spPr>
          <a:xfrm>
            <a:off x="685800" y="1874520"/>
            <a:ext cx="6675120" cy="2738209"/>
          </a:xfrm>
          <a:prstGeom prst="rect">
            <a:avLst/>
          </a:prstGeom>
        </p:spPr>
      </p:pic>
      <p:sp>
        <p:nvSpPr>
          <p:cNvPr id="6" name="teks-192"/>
          <p:cNvSpPr txBox="1"/>
          <p:nvPr/>
        </p:nvSpPr>
        <p:spPr>
          <a:xfrm>
            <a:off x="685800" y="4841329"/>
            <a:ext cx="6675120" cy="685800"/>
          </a:xfrm>
          <a:prstGeom prst="rect">
            <a:avLst/>
          </a:prstGeom>
          <a:noFill/>
          <a:ln/>
        </p:spPr>
        <p:txBody>
          <a:bodyPr wrap="square" lIns="0" tIns="0" rIns="0" bIns="0" rtlCol="0" anchor="t"/>
          <a:lstStyle/>
          <a:p>
            <a:pPr indent="0" marL="0">
              <a:buNone/>
            </a:pPr>
            <a:r>
              <a:rPr lang="en-US" sz="1400" dirty="0">
                <a:solidFill>
                  <a:srgbClr val="334155"/>
                </a:solidFill>
              </a:rPr>
              <a:t>Baris </a:t>
            </a:r>
            <a:pPr indent="0" marL="0">
              <a:buNone/>
            </a:pPr>
            <a:r>
              <a:rPr lang="en-US" sz="1400" b="1" dirty="0">
                <a:solidFill>
                  <a:srgbClr val="334155"/>
                </a:solidFill>
              </a:rPr>
              <a:t>hijau</a:t>
            </a:r>
            <a:pPr indent="0" marL="0">
              <a:buNone/>
            </a:pPr>
            <a:r>
              <a:rPr lang="en-US" sz="1400" dirty="0">
                <a:solidFill>
                  <a:srgbClr val="334155"/>
                </a:solidFill>
              </a:rPr>
              <a:t> = sudah dikontrak, tombolnya </a:t>
            </a:r>
            <a:pPr indent="0" marL="0">
              <a:buNone/>
            </a:pPr>
            <a:r>
              <a:rPr lang="en-US" sz="1400" b="1" dirty="0">
                <a:solidFill>
                  <a:srgbClr val="334155"/>
                </a:solidFill>
              </a:rPr>
              <a:t>Batalkan</a:t>
            </a:r>
            <a:pPr indent="0" marL="0">
              <a:buNone/>
            </a:pPr>
            <a:r>
              <a:rPr lang="en-US" sz="1400" dirty="0">
                <a:solidFill>
                  <a:srgbClr val="334155"/>
                </a:solidFill>
              </a:rPr>
              <a:t>. Baris putih bertombol </a:t>
            </a:r>
            <a:pPr indent="0" marL="0">
              <a:buNone/>
            </a:pPr>
            <a:r>
              <a:rPr lang="en-US" sz="1400" b="1" dirty="0">
                <a:solidFill>
                  <a:srgbClr val="334155"/>
                </a:solidFill>
              </a:rPr>
              <a:t>+ Kontrak</a:t>
            </a:r>
            <a:pPr indent="0" marL="0">
              <a:buNone/>
            </a:pPr>
            <a:r>
              <a:rPr lang="en-US" sz="1400" dirty="0">
                <a:solidFill>
                  <a:srgbClr val="334155"/>
                </a:solidFill>
              </a:rPr>
              <a:t> = belum diambil.</a:t>
            </a:r>
            <a:endParaRPr lang="en-US" sz="1400" dirty="0"/>
          </a:p>
        </p:txBody>
      </p:sp>
      <p:sp>
        <p:nvSpPr>
          <p:cNvPr id="7" name="latar-ikon-193"/>
          <p:cNvSpPr/>
          <p:nvPr/>
        </p:nvSpPr>
        <p:spPr>
          <a:xfrm>
            <a:off x="7726680" y="1947672"/>
            <a:ext cx="512064" cy="512064"/>
          </a:xfrm>
          <a:prstGeom prst="roundRect">
            <a:avLst>
              <a:gd name="adj" fmla="val 25000"/>
            </a:avLst>
          </a:prstGeom>
          <a:solidFill>
            <a:srgbClr val="FEE2E2"/>
          </a:solidFill>
          <a:ln/>
        </p:spPr>
      </p:sp>
      <p:pic>
        <p:nvPicPr>
          <p:cNvPr id="8" name="ikon-194" descr="preencoded.png">    </p:cNvPr>
          <p:cNvPicPr>
            <a:picLocks noChangeAspect="1"/>
          </p:cNvPicPr>
          <p:nvPr/>
        </p:nvPicPr>
        <p:blipFill>
          <a:blip r:embed="rId2"/>
          <a:stretch>
            <a:fillRect/>
          </a:stretch>
        </p:blipFill>
        <p:spPr>
          <a:xfrm>
            <a:off x="7839334" y="2060326"/>
            <a:ext cx="286756" cy="286756"/>
          </a:xfrm>
          <a:prstGeom prst="rect">
            <a:avLst/>
          </a:prstGeom>
        </p:spPr>
      </p:pic>
      <p:sp>
        <p:nvSpPr>
          <p:cNvPr id="9" name="teks-195"/>
          <p:cNvSpPr txBox="1"/>
          <p:nvPr/>
        </p:nvSpPr>
        <p:spPr>
          <a:xfrm>
            <a:off x="8412480" y="1874520"/>
            <a:ext cx="3090672" cy="685800"/>
          </a:xfrm>
          <a:prstGeom prst="rect">
            <a:avLst/>
          </a:prstGeom>
          <a:noFill/>
          <a:ln/>
        </p:spPr>
        <p:txBody>
          <a:bodyPr wrap="square" lIns="0" tIns="0" rIns="0" bIns="0" rtlCol="0" anchor="ctr"/>
          <a:lstStyle/>
          <a:p>
            <a:pPr indent="0" marL="0">
              <a:buNone/>
            </a:pPr>
            <a:r>
              <a:rPr lang="en-US" sz="1400" b="1" dirty="0">
                <a:solidFill>
                  <a:srgbClr val="334155"/>
                </a:solidFill>
              </a:rPr>
              <a:t>Batalkan</a:t>
            </a:r>
            <a:pPr indent="0" marL="0">
              <a:buNone/>
            </a:pPr>
            <a:r>
              <a:rPr lang="en-US" sz="1400" dirty="0">
                <a:solidFill>
                  <a:srgbClr val="334155"/>
                </a:solidFill>
              </a:rPr>
              <a:t> langsung diproses, tanpa dialog konfirmasi.</a:t>
            </a:r>
            <a:endParaRPr lang="en-US" sz="1400" dirty="0"/>
          </a:p>
        </p:txBody>
      </p:sp>
      <p:sp>
        <p:nvSpPr>
          <p:cNvPr id="10" name="latar-ikon-196"/>
          <p:cNvSpPr/>
          <p:nvPr/>
        </p:nvSpPr>
        <p:spPr>
          <a:xfrm>
            <a:off x="7726680" y="2971800"/>
            <a:ext cx="512064" cy="512064"/>
          </a:xfrm>
          <a:prstGeom prst="roundRect">
            <a:avLst>
              <a:gd name="adj" fmla="val 25000"/>
            </a:avLst>
          </a:prstGeom>
          <a:solidFill>
            <a:srgbClr val="DBEAFE"/>
          </a:solidFill>
          <a:ln/>
        </p:spPr>
      </p:sp>
      <p:pic>
        <p:nvPicPr>
          <p:cNvPr id="11" name="ikon-197" descr="preencoded.png">    </p:cNvPr>
          <p:cNvPicPr>
            <a:picLocks noChangeAspect="1"/>
          </p:cNvPicPr>
          <p:nvPr/>
        </p:nvPicPr>
        <p:blipFill>
          <a:blip r:embed="rId3"/>
          <a:stretch>
            <a:fillRect/>
          </a:stretch>
        </p:blipFill>
        <p:spPr>
          <a:xfrm>
            <a:off x="7839334" y="3084454"/>
            <a:ext cx="286756" cy="286756"/>
          </a:xfrm>
          <a:prstGeom prst="rect">
            <a:avLst/>
          </a:prstGeom>
        </p:spPr>
      </p:pic>
      <p:sp>
        <p:nvSpPr>
          <p:cNvPr id="12" name="teks-198"/>
          <p:cNvSpPr txBox="1"/>
          <p:nvPr/>
        </p:nvSpPr>
        <p:spPr>
          <a:xfrm>
            <a:off x="8412480" y="2898648"/>
            <a:ext cx="3090672" cy="685800"/>
          </a:xfrm>
          <a:prstGeom prst="rect">
            <a:avLst/>
          </a:prstGeom>
          <a:noFill/>
          <a:ln/>
        </p:spPr>
        <p:txBody>
          <a:bodyPr wrap="square" lIns="0" tIns="0" rIns="0" bIns="0" rtlCol="0" anchor="ctr"/>
          <a:lstStyle/>
          <a:p>
            <a:pPr indent="0" marL="0">
              <a:buNone/>
            </a:pPr>
            <a:r>
              <a:rPr lang="en-US" sz="1400" dirty="0">
                <a:solidFill>
                  <a:srgbClr val="334155"/>
                </a:solidFill>
              </a:rPr>
              <a:t>Tunggu satu klik selesai sebelum klik berikutnya.</a:t>
            </a:r>
            <a:endParaRPr lang="en-US" sz="1400" dirty="0"/>
          </a:p>
        </p:txBody>
      </p:sp>
      <p:sp>
        <p:nvSpPr>
          <p:cNvPr id="13" name="latar-ikon-199"/>
          <p:cNvSpPr/>
          <p:nvPr/>
        </p:nvSpPr>
        <p:spPr>
          <a:xfrm>
            <a:off x="7726680" y="3995928"/>
            <a:ext cx="512064" cy="512064"/>
          </a:xfrm>
          <a:prstGeom prst="roundRect">
            <a:avLst>
              <a:gd name="adj" fmla="val 25000"/>
            </a:avLst>
          </a:prstGeom>
          <a:solidFill>
            <a:srgbClr val="FEF3C7"/>
          </a:solidFill>
          <a:ln/>
        </p:spPr>
      </p:sp>
      <p:pic>
        <p:nvPicPr>
          <p:cNvPr id="14" name="ikon-200" descr="preencoded.png">    </p:cNvPr>
          <p:cNvPicPr>
            <a:picLocks noChangeAspect="1"/>
          </p:cNvPicPr>
          <p:nvPr/>
        </p:nvPicPr>
        <p:blipFill>
          <a:blip r:embed="rId4"/>
          <a:stretch>
            <a:fillRect/>
          </a:stretch>
        </p:blipFill>
        <p:spPr>
          <a:xfrm>
            <a:off x="7839334" y="4108582"/>
            <a:ext cx="286756" cy="286756"/>
          </a:xfrm>
          <a:prstGeom prst="rect">
            <a:avLst/>
          </a:prstGeom>
        </p:spPr>
      </p:pic>
      <p:sp>
        <p:nvSpPr>
          <p:cNvPr id="15" name="teks-201"/>
          <p:cNvSpPr txBox="1"/>
          <p:nvPr/>
        </p:nvSpPr>
        <p:spPr>
          <a:xfrm>
            <a:off x="8412480" y="3922776"/>
            <a:ext cx="3090672" cy="685800"/>
          </a:xfrm>
          <a:prstGeom prst="rect">
            <a:avLst/>
          </a:prstGeom>
          <a:noFill/>
          <a:ln/>
        </p:spPr>
        <p:txBody>
          <a:bodyPr wrap="square" lIns="0" tIns="0" rIns="0" bIns="0" rtlCol="0" anchor="ctr"/>
          <a:lstStyle/>
          <a:p>
            <a:pPr indent="0" marL="0">
              <a:buNone/>
            </a:pPr>
            <a:r>
              <a:rPr lang="en-US" sz="1400" dirty="0">
                <a:solidFill>
                  <a:srgbClr val="334155"/>
                </a:solidFill>
              </a:rPr>
              <a:t>Ditolak? Baca pesan notifikasinya, misalnya batas SKS.</a:t>
            </a:r>
            <a:endParaRPr lang="en-US" sz="1400" dirty="0"/>
          </a:p>
        </p:txBody>
      </p:sp>
      <p:sp>
        <p:nvSpPr>
          <p:cNvPr id="16" name="latar-ikon-202"/>
          <p:cNvSpPr/>
          <p:nvPr/>
        </p:nvSpPr>
        <p:spPr>
          <a:xfrm>
            <a:off x="7726680" y="5020056"/>
            <a:ext cx="512064" cy="512064"/>
          </a:xfrm>
          <a:prstGeom prst="roundRect">
            <a:avLst>
              <a:gd name="adj" fmla="val 25000"/>
            </a:avLst>
          </a:prstGeom>
          <a:solidFill>
            <a:srgbClr val="DBEAFE"/>
          </a:solidFill>
          <a:ln/>
        </p:spPr>
      </p:sp>
      <p:pic>
        <p:nvPicPr>
          <p:cNvPr id="17" name="ikon-203" descr="preencoded.png">    </p:cNvPr>
          <p:cNvPicPr>
            <a:picLocks noChangeAspect="1"/>
          </p:cNvPicPr>
          <p:nvPr/>
        </p:nvPicPr>
        <p:blipFill>
          <a:blip r:embed="rId5"/>
          <a:stretch>
            <a:fillRect/>
          </a:stretch>
        </p:blipFill>
        <p:spPr>
          <a:xfrm>
            <a:off x="7839334" y="5132710"/>
            <a:ext cx="286756" cy="286756"/>
          </a:xfrm>
          <a:prstGeom prst="rect">
            <a:avLst/>
          </a:prstGeom>
        </p:spPr>
      </p:pic>
      <p:sp>
        <p:nvSpPr>
          <p:cNvPr id="18" name="teks-204"/>
          <p:cNvSpPr txBox="1"/>
          <p:nvPr/>
        </p:nvSpPr>
        <p:spPr>
          <a:xfrm>
            <a:off x="8412480" y="4946904"/>
            <a:ext cx="3090672" cy="685800"/>
          </a:xfrm>
          <a:prstGeom prst="rect">
            <a:avLst/>
          </a:prstGeom>
          <a:noFill/>
          <a:ln/>
        </p:spPr>
        <p:txBody>
          <a:bodyPr wrap="square" lIns="0" tIns="0" rIns="0" bIns="0" rtlCol="0" anchor="ctr"/>
          <a:lstStyle/>
          <a:p>
            <a:pPr indent="0" marL="0">
              <a:buNone/>
            </a:pPr>
            <a:r>
              <a:rPr lang="en-US" sz="1400" dirty="0">
                <a:solidFill>
                  <a:srgbClr val="334155"/>
                </a:solidFill>
              </a:rPr>
              <a:t>Hindari jadwal bentrok; diskusikan dengan dosen PA.</a:t>
            </a:r>
            <a:endParaRPr lang="en-US" sz="14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AKADEMIK · KHS</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Nilai terbuka setelah EDOM diisi</a:t>
            </a:r>
            <a:endParaRPr lang="en-US" sz="3400" dirty="0"/>
          </a:p>
        </p:txBody>
      </p:sp>
      <p:sp>
        <p:nvSpPr>
          <p:cNvPr id="4" name="poin-205"/>
          <p:cNvSpPr/>
          <p:nvPr/>
        </p:nvSpPr>
        <p:spPr>
          <a:xfrm>
            <a:off x="685800" y="2020824"/>
            <a:ext cx="128016" cy="128016"/>
          </a:xfrm>
          <a:prstGeom prst="ellipse">
            <a:avLst/>
          </a:prstGeom>
          <a:solidFill>
            <a:schemeClr val="accent2"/>
          </a:solidFill>
          <a:ln/>
        </p:spPr>
      </p:sp>
      <p:sp>
        <p:nvSpPr>
          <p:cNvPr id="5" name="teks-206"/>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Periode, Total SKS, IPS</a:t>
            </a:r>
            <a:endParaRPr lang="en-US" sz="1500" dirty="0"/>
          </a:p>
        </p:txBody>
      </p:sp>
      <p:sp>
        <p:nvSpPr>
          <p:cNvPr id="6" name="teks-207"/>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Pilih semester; rincian nilai komponen tampil di bawah nama mata kuliah.</a:t>
            </a:r>
            <a:endParaRPr lang="en-US" sz="1300" dirty="0"/>
          </a:p>
        </p:txBody>
      </p:sp>
      <p:sp>
        <p:nvSpPr>
          <p:cNvPr id="7" name="poin-208"/>
          <p:cNvSpPr/>
          <p:nvPr/>
        </p:nvSpPr>
        <p:spPr>
          <a:xfrm>
            <a:off x="685800" y="2980944"/>
            <a:ext cx="128016" cy="128016"/>
          </a:xfrm>
          <a:prstGeom prst="ellipse">
            <a:avLst/>
          </a:prstGeom>
          <a:solidFill>
            <a:schemeClr val="accent2"/>
          </a:solidFill>
          <a:ln/>
        </p:spPr>
      </p:sp>
      <p:sp>
        <p:nvSpPr>
          <p:cNvPr id="8" name="teks-209"/>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Nilai “Terkunci”</a:t>
            </a:r>
            <a:endParaRPr lang="en-US" sz="1500" dirty="0"/>
          </a:p>
        </p:txBody>
      </p:sp>
      <p:sp>
        <p:nvSpPr>
          <p:cNvPr id="9" name="teks-210"/>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EDOM belum diisi. Klik tombol biru </a:t>
            </a:r>
            <a:pPr indent="0" marL="0">
              <a:buNone/>
            </a:pPr>
            <a:r>
              <a:rPr lang="en-US" sz="1300" b="1" dirty="0">
                <a:solidFill>
                  <a:schemeClr val="accent6"/>
                </a:solidFill>
              </a:rPr>
              <a:t>Isi EDOM</a:t>
            </a:r>
            <a:pPr indent="0" marL="0">
              <a:buNone/>
            </a:pPr>
            <a:r>
              <a:rPr lang="en-US" sz="1300" dirty="0">
                <a:solidFill>
                  <a:schemeClr val="accent6"/>
                </a:solidFill>
              </a:rPr>
              <a:t> di baris itu.</a:t>
            </a:r>
            <a:endParaRPr lang="en-US" sz="1300" dirty="0"/>
          </a:p>
        </p:txBody>
      </p:sp>
      <p:sp>
        <p:nvSpPr>
          <p:cNvPr id="10" name="poin-211"/>
          <p:cNvSpPr/>
          <p:nvPr/>
        </p:nvSpPr>
        <p:spPr>
          <a:xfrm>
            <a:off x="685800" y="3941064"/>
            <a:ext cx="128016" cy="128016"/>
          </a:xfrm>
          <a:prstGeom prst="ellipse">
            <a:avLst/>
          </a:prstGeom>
          <a:solidFill>
            <a:schemeClr val="accent2"/>
          </a:solidFill>
          <a:ln/>
        </p:spPr>
      </p:sp>
      <p:sp>
        <p:nvSpPr>
          <p:cNvPr id="11" name="teks-212"/>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Banner kuning</a:t>
            </a:r>
            <a:endParaRPr lang="en-US" sz="1500" dirty="0"/>
          </a:p>
        </p:txBody>
      </p:sp>
      <p:sp>
        <p:nvSpPr>
          <p:cNvPr id="12" name="teks-213"/>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Menunjukkan berapa mata kuliah yang sudah lengkap.</a:t>
            </a:r>
            <a:endParaRPr lang="en-US" sz="1300" dirty="0"/>
          </a:p>
        </p:txBody>
      </p:sp>
      <p:sp>
        <p:nvSpPr>
          <p:cNvPr id="13" name="poin-214"/>
          <p:cNvSpPr/>
          <p:nvPr/>
        </p:nvSpPr>
        <p:spPr>
          <a:xfrm>
            <a:off x="685800" y="4901184"/>
            <a:ext cx="128016" cy="128016"/>
          </a:xfrm>
          <a:prstGeom prst="ellipse">
            <a:avLst/>
          </a:prstGeom>
          <a:solidFill>
            <a:schemeClr val="accent2"/>
          </a:solidFill>
          <a:ln/>
        </p:spPr>
      </p:sp>
      <p:sp>
        <p:nvSpPr>
          <p:cNvPr id="14" name="teks-215"/>
          <p:cNvSpPr txBox="1"/>
          <p:nvPr/>
        </p:nvSpPr>
        <p:spPr>
          <a:xfrm>
            <a:off x="960120" y="4800600"/>
            <a:ext cx="3520440" cy="310896"/>
          </a:xfrm>
          <a:prstGeom prst="rect">
            <a:avLst/>
          </a:prstGeom>
          <a:noFill/>
          <a:ln/>
        </p:spPr>
        <p:txBody>
          <a:bodyPr wrap="square" lIns="0" tIns="0" rIns="0" bIns="0" rtlCol="0" anchor="t"/>
          <a:lstStyle/>
          <a:p>
            <a:pPr indent="0" marL="0">
              <a:buNone/>
            </a:pPr>
            <a:r>
              <a:rPr lang="en-US" sz="1500" b="1" dirty="0">
                <a:solidFill>
                  <a:schemeClr val="tx1"/>
                </a:solidFill>
              </a:rPr>
              <a:t>Lihat KHS (PDF)</a:t>
            </a:r>
            <a:endParaRPr lang="en-US" sz="1500" dirty="0"/>
          </a:p>
        </p:txBody>
      </p:sp>
      <p:sp>
        <p:nvSpPr>
          <p:cNvPr id="15" name="teks-216"/>
          <p:cNvSpPr txBox="1"/>
          <p:nvPr/>
        </p:nvSpPr>
        <p:spPr>
          <a:xfrm>
            <a:off x="960120" y="513892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Aktif hanya jika </a:t>
            </a:r>
            <a:pPr indent="0" marL="0">
              <a:buNone/>
            </a:pPr>
            <a:r>
              <a:rPr lang="en-US" sz="1300" b="1" dirty="0">
                <a:solidFill>
                  <a:schemeClr val="accent6"/>
                </a:solidFill>
              </a:rPr>
              <a:t>semua</a:t>
            </a:r>
            <a:pPr indent="0" marL="0">
              <a:buNone/>
            </a:pPr>
            <a:r>
              <a:rPr lang="en-US" sz="1300" dirty="0">
                <a:solidFill>
                  <a:schemeClr val="accent6"/>
                </a:solidFill>
              </a:rPr>
              <a:t> mata kuliah sudah dinilai dan EDOM-nya diisi.</a:t>
            </a:r>
            <a:endParaRPr lang="en-US" sz="1300" dirty="0"/>
          </a:p>
        </p:txBody>
      </p:sp>
      <p:sp>
        <p:nvSpPr>
          <p:cNvPr id="16" name="bingkai-217"/>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218" descr="Halaman Kartu Hasil Studi">    </p:cNvPr>
          <p:cNvPicPr>
            <a:picLocks noChangeAspect="1"/>
          </p:cNvPicPr>
          <p:nvPr/>
        </p:nvPicPr>
        <p:blipFill>
          <a:blip r:embed="rId1"/>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AKADEMIK · EDOM</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Mengisi Evaluasi Dosen oleh Mahasiswa</a:t>
            </a:r>
            <a:endParaRPr lang="en-US" sz="3400" dirty="0"/>
          </a:p>
        </p:txBody>
      </p:sp>
      <p:sp>
        <p:nvSpPr>
          <p:cNvPr id="4" name="nomor-219"/>
          <p:cNvSpPr/>
          <p:nvPr/>
        </p:nvSpPr>
        <p:spPr>
          <a:xfrm>
            <a:off x="685800" y="2011680"/>
            <a:ext cx="438912" cy="438912"/>
          </a:xfrm>
          <a:prstGeom prst="ellipse">
            <a:avLst/>
          </a:prstGeom>
          <a:solidFill>
            <a:schemeClr val="accent1"/>
          </a:solidFill>
          <a:ln/>
        </p:spPr>
      </p:sp>
      <p:sp>
        <p:nvSpPr>
          <p:cNvPr id="5" name="teks-220"/>
          <p:cNvSpPr txBox="1"/>
          <p:nvPr/>
        </p:nvSpPr>
        <p:spPr>
          <a:xfrm>
            <a:off x="685800" y="20116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ks-221"/>
          <p:cNvSpPr txBox="1"/>
          <p:nvPr/>
        </p:nvSpPr>
        <p:spPr>
          <a:xfrm>
            <a:off x="1325880" y="1993392"/>
            <a:ext cx="3337560" cy="347472"/>
          </a:xfrm>
          <a:prstGeom prst="rect">
            <a:avLst/>
          </a:prstGeom>
          <a:noFill/>
          <a:ln/>
        </p:spPr>
        <p:txBody>
          <a:bodyPr wrap="square" lIns="0" tIns="0" rIns="0" bIns="0" rtlCol="0" anchor="t"/>
          <a:lstStyle/>
          <a:p>
            <a:pPr indent="0" marL="0">
              <a:buNone/>
            </a:pPr>
            <a:r>
              <a:rPr lang="en-US" sz="1800" b="1" dirty="0">
                <a:solidFill>
                  <a:schemeClr val="tx1"/>
                </a:solidFill>
              </a:rPr>
              <a:t>Klik Isi EDOM</a:t>
            </a:r>
            <a:endParaRPr lang="en-US" sz="1800" dirty="0"/>
          </a:p>
        </p:txBody>
      </p:sp>
      <p:sp>
        <p:nvSpPr>
          <p:cNvPr id="7" name="teks-222"/>
          <p:cNvSpPr txBox="1"/>
          <p:nvPr/>
        </p:nvSpPr>
        <p:spPr>
          <a:xfrm>
            <a:off x="1325880" y="235915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Di kolom EDOM pada tabel KHS.</a:t>
            </a:r>
            <a:endParaRPr lang="en-US" sz="1400" dirty="0"/>
          </a:p>
        </p:txBody>
      </p:sp>
      <p:sp>
        <p:nvSpPr>
          <p:cNvPr id="8" name="nomor-223"/>
          <p:cNvSpPr/>
          <p:nvPr/>
        </p:nvSpPr>
        <p:spPr>
          <a:xfrm>
            <a:off x="685800" y="2834640"/>
            <a:ext cx="438912" cy="438912"/>
          </a:xfrm>
          <a:prstGeom prst="ellipse">
            <a:avLst/>
          </a:prstGeom>
          <a:solidFill>
            <a:schemeClr val="accent1"/>
          </a:solidFill>
          <a:ln/>
        </p:spPr>
      </p:sp>
      <p:sp>
        <p:nvSpPr>
          <p:cNvPr id="9" name="teks-224"/>
          <p:cNvSpPr txBox="1"/>
          <p:nvPr/>
        </p:nvSpPr>
        <p:spPr>
          <a:xfrm>
            <a:off x="685800" y="28346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ks-225"/>
          <p:cNvSpPr txBox="1"/>
          <p:nvPr/>
        </p:nvSpPr>
        <p:spPr>
          <a:xfrm>
            <a:off x="1325880" y="2816352"/>
            <a:ext cx="3337560" cy="347472"/>
          </a:xfrm>
          <a:prstGeom prst="rect">
            <a:avLst/>
          </a:prstGeom>
          <a:noFill/>
          <a:ln/>
        </p:spPr>
        <p:txBody>
          <a:bodyPr wrap="square" lIns="0" tIns="0" rIns="0" bIns="0" rtlCol="0" anchor="t"/>
          <a:lstStyle/>
          <a:p>
            <a:pPr indent="0" marL="0">
              <a:buNone/>
            </a:pPr>
            <a:r>
              <a:rPr lang="en-US" sz="1800" b="1" dirty="0">
                <a:solidFill>
                  <a:schemeClr val="tx1"/>
                </a:solidFill>
              </a:rPr>
              <a:t>Jawab semua soal</a:t>
            </a:r>
            <a:endParaRPr lang="en-US" sz="1800" dirty="0"/>
          </a:p>
        </p:txBody>
      </p:sp>
      <p:sp>
        <p:nvSpPr>
          <p:cNvPr id="11" name="teks-226"/>
          <p:cNvSpPr txBox="1"/>
          <p:nvPr/>
        </p:nvSpPr>
        <p:spPr>
          <a:xfrm>
            <a:off x="1325880" y="318211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Pilih satu opsi; soal esai diketik.</a:t>
            </a:r>
            <a:endParaRPr lang="en-US" sz="1400" dirty="0"/>
          </a:p>
        </p:txBody>
      </p:sp>
      <p:sp>
        <p:nvSpPr>
          <p:cNvPr id="12" name="nomor-227"/>
          <p:cNvSpPr/>
          <p:nvPr/>
        </p:nvSpPr>
        <p:spPr>
          <a:xfrm>
            <a:off x="685800" y="3657600"/>
            <a:ext cx="438912" cy="438912"/>
          </a:xfrm>
          <a:prstGeom prst="ellipse">
            <a:avLst/>
          </a:prstGeom>
          <a:solidFill>
            <a:schemeClr val="accent1"/>
          </a:solidFill>
          <a:ln/>
        </p:spPr>
      </p:sp>
      <p:sp>
        <p:nvSpPr>
          <p:cNvPr id="13" name="teks-228"/>
          <p:cNvSpPr txBox="1"/>
          <p:nvPr/>
        </p:nvSpPr>
        <p:spPr>
          <a:xfrm>
            <a:off x="685800" y="36576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ks-229"/>
          <p:cNvSpPr txBox="1"/>
          <p:nvPr/>
        </p:nvSpPr>
        <p:spPr>
          <a:xfrm>
            <a:off x="1325880" y="3639312"/>
            <a:ext cx="3337560" cy="347472"/>
          </a:xfrm>
          <a:prstGeom prst="rect">
            <a:avLst/>
          </a:prstGeom>
          <a:noFill/>
          <a:ln/>
        </p:spPr>
        <p:txBody>
          <a:bodyPr wrap="square" lIns="0" tIns="0" rIns="0" bIns="0" rtlCol="0" anchor="t"/>
          <a:lstStyle/>
          <a:p>
            <a:pPr indent="0" marL="0">
              <a:buNone/>
            </a:pPr>
            <a:r>
              <a:rPr lang="en-US" sz="1800" b="1" dirty="0">
                <a:solidFill>
                  <a:schemeClr val="tx1"/>
                </a:solidFill>
              </a:rPr>
              <a:t>Pantau progres</a:t>
            </a:r>
            <a:endParaRPr lang="en-US" sz="1800" dirty="0"/>
          </a:p>
        </p:txBody>
      </p:sp>
      <p:sp>
        <p:nvSpPr>
          <p:cNvPr id="15" name="teks-230"/>
          <p:cNvSpPr txBox="1"/>
          <p:nvPr/>
        </p:nvSpPr>
        <p:spPr>
          <a:xfrm>
            <a:off x="1325880" y="400507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“Terjawab X dari Y pertanyaan”.</a:t>
            </a:r>
            <a:endParaRPr lang="en-US" sz="1400" dirty="0"/>
          </a:p>
        </p:txBody>
      </p:sp>
      <p:sp>
        <p:nvSpPr>
          <p:cNvPr id="16" name="nomor-231"/>
          <p:cNvSpPr/>
          <p:nvPr/>
        </p:nvSpPr>
        <p:spPr>
          <a:xfrm>
            <a:off x="685800" y="4480560"/>
            <a:ext cx="438912" cy="438912"/>
          </a:xfrm>
          <a:prstGeom prst="ellipse">
            <a:avLst/>
          </a:prstGeom>
          <a:solidFill>
            <a:schemeClr val="accent1"/>
          </a:solidFill>
          <a:ln/>
        </p:spPr>
      </p:sp>
      <p:sp>
        <p:nvSpPr>
          <p:cNvPr id="17" name="teks-232"/>
          <p:cNvSpPr txBox="1"/>
          <p:nvPr/>
        </p:nvSpPr>
        <p:spPr>
          <a:xfrm>
            <a:off x="685800" y="44805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ks-233"/>
          <p:cNvSpPr txBox="1"/>
          <p:nvPr/>
        </p:nvSpPr>
        <p:spPr>
          <a:xfrm>
            <a:off x="1325880" y="4462272"/>
            <a:ext cx="3337560" cy="347472"/>
          </a:xfrm>
          <a:prstGeom prst="rect">
            <a:avLst/>
          </a:prstGeom>
          <a:noFill/>
          <a:ln/>
        </p:spPr>
        <p:txBody>
          <a:bodyPr wrap="square" lIns="0" tIns="0" rIns="0" bIns="0" rtlCol="0" anchor="t"/>
          <a:lstStyle/>
          <a:p>
            <a:pPr indent="0" marL="0">
              <a:buNone/>
            </a:pPr>
            <a:r>
              <a:rPr lang="en-US" sz="1800" b="1" dirty="0">
                <a:solidFill>
                  <a:schemeClr val="tx1"/>
                </a:solidFill>
              </a:rPr>
              <a:t>Klik Simpan Jawaban</a:t>
            </a:r>
            <a:endParaRPr lang="en-US" sz="1800" dirty="0"/>
          </a:p>
        </p:txBody>
      </p:sp>
      <p:sp>
        <p:nvSpPr>
          <p:cNvPr id="19" name="teks-234"/>
          <p:cNvSpPr txBox="1"/>
          <p:nvPr/>
        </p:nvSpPr>
        <p:spPr>
          <a:xfrm>
            <a:off x="1325880" y="4828032"/>
            <a:ext cx="3337560" cy="365760"/>
          </a:xfrm>
          <a:prstGeom prst="rect">
            <a:avLst/>
          </a:prstGeom>
          <a:noFill/>
          <a:ln/>
        </p:spPr>
        <p:txBody>
          <a:bodyPr wrap="square" lIns="0" tIns="0" rIns="0" bIns="0" rtlCol="0" anchor="t"/>
          <a:lstStyle/>
          <a:p>
            <a:pPr indent="0" marL="0">
              <a:buNone/>
            </a:pPr>
            <a:r>
              <a:rPr lang="en-US" sz="1400" dirty="0">
                <a:solidFill>
                  <a:schemeClr val="accent6"/>
                </a:solidFill>
              </a:rPr>
              <a:t>Aktif setelah semua terjawab.</a:t>
            </a:r>
            <a:endParaRPr lang="en-US" sz="1400" dirty="0"/>
          </a:p>
        </p:txBody>
      </p:sp>
      <p:pic>
        <p:nvPicPr>
          <p:cNvPr id="20" name="ikon-centang" descr="preencoded.png">    </p:cNvPr>
          <p:cNvPicPr>
            <a:picLocks noChangeAspect="1"/>
          </p:cNvPicPr>
          <p:nvPr/>
        </p:nvPicPr>
        <p:blipFill>
          <a:blip r:embed="rId1"/>
          <a:stretch>
            <a:fillRect/>
          </a:stretch>
        </p:blipFill>
        <p:spPr>
          <a:xfrm>
            <a:off x="685800" y="5440680"/>
            <a:ext cx="365760" cy="365760"/>
          </a:xfrm>
          <a:prstGeom prst="rect">
            <a:avLst/>
          </a:prstGeom>
        </p:spPr>
      </p:pic>
      <p:sp>
        <p:nvSpPr>
          <p:cNvPr id="21" name="teks-235"/>
          <p:cNvSpPr txBox="1"/>
          <p:nvPr/>
        </p:nvSpPr>
        <p:spPr>
          <a:xfrm>
            <a:off x="1188720" y="5394960"/>
            <a:ext cx="3429000" cy="502920"/>
          </a:xfrm>
          <a:prstGeom prst="rect">
            <a:avLst/>
          </a:prstGeom>
          <a:noFill/>
          <a:ln/>
        </p:spPr>
        <p:txBody>
          <a:bodyPr wrap="square" lIns="0" tIns="0" rIns="0" bIns="0" rtlCol="0" anchor="ctr"/>
          <a:lstStyle/>
          <a:p>
            <a:pPr indent="0" marL="0">
              <a:buNone/>
            </a:pPr>
            <a:r>
              <a:rPr lang="en-US" sz="1300" dirty="0">
                <a:solidFill>
                  <a:srgbClr val="334155"/>
                </a:solidFill>
              </a:rPr>
              <a:t>Cukup </a:t>
            </a:r>
            <a:pPr indent="0" marL="0">
              <a:buNone/>
            </a:pPr>
            <a:r>
              <a:rPr lang="en-US" sz="1300" b="1" dirty="0">
                <a:solidFill>
                  <a:srgbClr val="334155"/>
                </a:solidFill>
              </a:rPr>
              <a:t>sekali</a:t>
            </a:r>
            <a:pPr indent="0" marL="0">
              <a:buNone/>
            </a:pPr>
            <a:r>
              <a:rPr lang="en-US" sz="1300" dirty="0">
                <a:solidFill>
                  <a:srgbClr val="334155"/>
                </a:solidFill>
              </a:rPr>
              <a:t> per mata kuliah; nilai langsung terbuka.</a:t>
            </a:r>
            <a:endParaRPr lang="en-US" sz="1300" dirty="0"/>
          </a:p>
        </p:txBody>
      </p:sp>
      <p:sp>
        <p:nvSpPr>
          <p:cNvPr id="22" name="bingkai-236"/>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23" name="screenshot-237" descr="Halaman Isi EDOM">    </p:cNvPr>
          <p:cNvPicPr>
            <a:picLocks noChangeAspect="1"/>
          </p:cNvPicPr>
          <p:nvPr/>
        </p:nvPicPr>
        <p:blipFill>
          <a:blip r:embed="rId2"/>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PENDAFTARAN · KKN, PKL, SEMINAR, SIDANG</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Satu alur untuk empat kegiatan</a:t>
            </a:r>
            <a:endParaRPr lang="en-US" sz="3400" dirty="0"/>
          </a:p>
        </p:txBody>
      </p:sp>
      <p:sp>
        <p:nvSpPr>
          <p:cNvPr id="4" name="kartu-238"/>
          <p:cNvSpPr/>
          <p:nvPr/>
        </p:nvSpPr>
        <p:spPr>
          <a:xfrm>
            <a:off x="685800" y="1920240"/>
            <a:ext cx="2395728" cy="1417320"/>
          </a:xfrm>
          <a:prstGeom prst="roundRect">
            <a:avLst>
              <a:gd name="adj" fmla="val 9032"/>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5" name="teks-239"/>
          <p:cNvSpPr txBox="1"/>
          <p:nvPr/>
        </p:nvSpPr>
        <p:spPr>
          <a:xfrm>
            <a:off x="941832" y="2103120"/>
            <a:ext cx="1938528" cy="365760"/>
          </a:xfrm>
          <a:prstGeom prst="rect">
            <a:avLst/>
          </a:prstGeom>
          <a:noFill/>
          <a:ln/>
        </p:spPr>
        <p:txBody>
          <a:bodyPr wrap="square" lIns="0" tIns="0" rIns="0" bIns="0" rtlCol="0" anchor="t"/>
          <a:lstStyle/>
          <a:p>
            <a:pPr indent="0" marL="0">
              <a:buNone/>
            </a:pPr>
            <a:r>
              <a:rPr lang="en-US" sz="1800" b="1" dirty="0">
                <a:solidFill>
                  <a:schemeClr val="tx1"/>
                </a:solidFill>
              </a:rPr>
              <a:t>Buka menu</a:t>
            </a:r>
            <a:endParaRPr lang="en-US" sz="1800" dirty="0"/>
          </a:p>
        </p:txBody>
      </p:sp>
      <p:sp>
        <p:nvSpPr>
          <p:cNvPr id="6" name="teks-240"/>
          <p:cNvSpPr txBox="1"/>
          <p:nvPr/>
        </p:nvSpPr>
        <p:spPr>
          <a:xfrm>
            <a:off x="941832" y="2514600"/>
            <a:ext cx="1938528" cy="731520"/>
          </a:xfrm>
          <a:prstGeom prst="rect">
            <a:avLst/>
          </a:prstGeom>
          <a:noFill/>
          <a:ln/>
        </p:spPr>
        <p:txBody>
          <a:bodyPr wrap="square" lIns="0" tIns="0" rIns="0" bIns="0" rtlCol="0" anchor="t"/>
          <a:lstStyle/>
          <a:p>
            <a:pPr indent="0" marL="0">
              <a:buNone/>
            </a:pPr>
            <a:r>
              <a:rPr lang="en-US" sz="1300" dirty="0">
                <a:solidFill>
                  <a:schemeClr val="accent6"/>
                </a:solidFill>
              </a:rPr>
              <a:t>Pilih kegiatan, klik </a:t>
            </a:r>
            <a:pPr indent="0" marL="0">
              <a:buNone/>
            </a:pPr>
            <a:r>
              <a:rPr lang="en-US" sz="1300" b="1" dirty="0">
                <a:solidFill>
                  <a:schemeClr val="accent6"/>
                </a:solidFill>
              </a:rPr>
              <a:t>Daftar …</a:t>
            </a:r>
            <a:endParaRPr lang="en-US" sz="1300" dirty="0"/>
          </a:p>
        </p:txBody>
      </p:sp>
      <p:sp>
        <p:nvSpPr>
          <p:cNvPr id="7" name="panah-241"/>
          <p:cNvSpPr/>
          <p:nvPr/>
        </p:nvSpPr>
        <p:spPr>
          <a:xfrm>
            <a:off x="3154680" y="2514600"/>
            <a:ext cx="265176" cy="228600"/>
          </a:xfrm>
          <a:prstGeom prst="rightArrow">
            <a:avLst/>
          </a:prstGeom>
          <a:solidFill>
            <a:schemeClr val="accent1"/>
          </a:solidFill>
          <a:ln/>
        </p:spPr>
      </p:sp>
      <p:sp>
        <p:nvSpPr>
          <p:cNvPr id="8" name="kartu-242"/>
          <p:cNvSpPr/>
          <p:nvPr/>
        </p:nvSpPr>
        <p:spPr>
          <a:xfrm>
            <a:off x="3493008" y="1920240"/>
            <a:ext cx="2395728" cy="1417320"/>
          </a:xfrm>
          <a:prstGeom prst="roundRect">
            <a:avLst>
              <a:gd name="adj" fmla="val 9032"/>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9" name="teks-243"/>
          <p:cNvSpPr txBox="1"/>
          <p:nvPr/>
        </p:nvSpPr>
        <p:spPr>
          <a:xfrm>
            <a:off x="3749040" y="2103120"/>
            <a:ext cx="1938528" cy="365760"/>
          </a:xfrm>
          <a:prstGeom prst="rect">
            <a:avLst/>
          </a:prstGeom>
          <a:noFill/>
          <a:ln/>
        </p:spPr>
        <p:txBody>
          <a:bodyPr wrap="square" lIns="0" tIns="0" rIns="0" bIns="0" rtlCol="0" anchor="t"/>
          <a:lstStyle/>
          <a:p>
            <a:pPr indent="0" marL="0">
              <a:buNone/>
            </a:pPr>
            <a:r>
              <a:rPr lang="en-US" sz="1800" b="1" dirty="0">
                <a:solidFill>
                  <a:schemeClr val="tx1"/>
                </a:solidFill>
              </a:rPr>
              <a:t>Baca syarat</a:t>
            </a:r>
            <a:endParaRPr lang="en-US" sz="1800" dirty="0"/>
          </a:p>
        </p:txBody>
      </p:sp>
      <p:sp>
        <p:nvSpPr>
          <p:cNvPr id="10" name="teks-244"/>
          <p:cNvSpPr txBox="1"/>
          <p:nvPr/>
        </p:nvSpPr>
        <p:spPr>
          <a:xfrm>
            <a:off x="3749040" y="2514600"/>
            <a:ext cx="1938528" cy="731520"/>
          </a:xfrm>
          <a:prstGeom prst="rect">
            <a:avLst/>
          </a:prstGeom>
          <a:noFill/>
          <a:ln/>
        </p:spPr>
        <p:txBody>
          <a:bodyPr wrap="square" lIns="0" tIns="0" rIns="0" bIns="0" rtlCol="0" anchor="t"/>
          <a:lstStyle/>
          <a:p>
            <a:pPr indent="0" marL="0">
              <a:buNone/>
            </a:pPr>
            <a:r>
              <a:rPr lang="en-US" sz="1300" dirty="0">
                <a:solidFill>
                  <a:schemeClr val="accent6"/>
                </a:solidFill>
              </a:rPr>
              <a:t>Min. SKS lulus, semester, nilai D, periode</a:t>
            </a:r>
            <a:endParaRPr lang="en-US" sz="1300" dirty="0"/>
          </a:p>
        </p:txBody>
      </p:sp>
      <p:sp>
        <p:nvSpPr>
          <p:cNvPr id="11" name="panah-245"/>
          <p:cNvSpPr/>
          <p:nvPr/>
        </p:nvSpPr>
        <p:spPr>
          <a:xfrm>
            <a:off x="5961888" y="2514600"/>
            <a:ext cx="265176" cy="228600"/>
          </a:xfrm>
          <a:prstGeom prst="rightArrow">
            <a:avLst/>
          </a:prstGeom>
          <a:solidFill>
            <a:schemeClr val="accent1"/>
          </a:solidFill>
          <a:ln/>
        </p:spPr>
      </p:sp>
      <p:sp>
        <p:nvSpPr>
          <p:cNvPr id="12" name="kartu-246"/>
          <p:cNvSpPr/>
          <p:nvPr/>
        </p:nvSpPr>
        <p:spPr>
          <a:xfrm>
            <a:off x="6300216" y="1920240"/>
            <a:ext cx="2395728" cy="1417320"/>
          </a:xfrm>
          <a:prstGeom prst="roundRect">
            <a:avLst>
              <a:gd name="adj" fmla="val 9032"/>
            </a:avLst>
          </a:prstGeom>
          <a:solidFill>
            <a:schemeClr val="bg1"/>
          </a:solidFill>
          <a:ln w="12700">
            <a:solidFill>
              <a:srgbClr val="E2E8F0"/>
            </a:solidFill>
            <a:prstDash val="solid"/>
          </a:ln>
          <a:effectLst>
            <a:outerShdw sx="100000" sy="100000" kx="0" ky="0" algn="bl" rotWithShape="0" blurRad="101600" dist="25400" dir="5400000">
              <a:srgbClr val="172554">
                <a:alpha val="8000"/>
              </a:srgbClr>
            </a:outerShdw>
          </a:effectLst>
        </p:spPr>
      </p:sp>
      <p:sp>
        <p:nvSpPr>
          <p:cNvPr id="13" name="teks-247"/>
          <p:cNvSpPr txBox="1"/>
          <p:nvPr/>
        </p:nvSpPr>
        <p:spPr>
          <a:xfrm>
            <a:off x="6556248" y="2103120"/>
            <a:ext cx="1938528" cy="365760"/>
          </a:xfrm>
          <a:prstGeom prst="rect">
            <a:avLst/>
          </a:prstGeom>
          <a:noFill/>
          <a:ln/>
        </p:spPr>
        <p:txBody>
          <a:bodyPr wrap="square" lIns="0" tIns="0" rIns="0" bIns="0" rtlCol="0" anchor="t"/>
          <a:lstStyle/>
          <a:p>
            <a:pPr indent="0" marL="0">
              <a:buNone/>
            </a:pPr>
            <a:r>
              <a:rPr lang="en-US" sz="1800" b="1" dirty="0">
                <a:solidFill>
                  <a:schemeClr val="tx1"/>
                </a:solidFill>
              </a:rPr>
              <a:t>Klik Daftar</a:t>
            </a:r>
            <a:endParaRPr lang="en-US" sz="1800" dirty="0"/>
          </a:p>
        </p:txBody>
      </p:sp>
      <p:sp>
        <p:nvSpPr>
          <p:cNvPr id="14" name="teks-248"/>
          <p:cNvSpPr txBox="1"/>
          <p:nvPr/>
        </p:nvSpPr>
        <p:spPr>
          <a:xfrm>
            <a:off x="6556248" y="2514600"/>
            <a:ext cx="1938528" cy="731520"/>
          </a:xfrm>
          <a:prstGeom prst="rect">
            <a:avLst/>
          </a:prstGeom>
          <a:noFill/>
          <a:ln/>
        </p:spPr>
        <p:txBody>
          <a:bodyPr wrap="square" lIns="0" tIns="0" rIns="0" bIns="0" rtlCol="0" anchor="t"/>
          <a:lstStyle/>
          <a:p>
            <a:pPr indent="0" marL="0">
              <a:buNone/>
            </a:pPr>
            <a:r>
              <a:rPr lang="en-US" sz="1300" dirty="0">
                <a:solidFill>
                  <a:schemeClr val="accent6"/>
                </a:solidFill>
              </a:rPr>
              <a:t>Langsung diproses, tanpa konfirmasi</a:t>
            </a:r>
            <a:endParaRPr lang="en-US" sz="1300" dirty="0"/>
          </a:p>
        </p:txBody>
      </p:sp>
      <p:sp>
        <p:nvSpPr>
          <p:cNvPr id="15" name="panah-249"/>
          <p:cNvSpPr/>
          <p:nvPr/>
        </p:nvSpPr>
        <p:spPr>
          <a:xfrm>
            <a:off x="8769096" y="2514600"/>
            <a:ext cx="265176" cy="228600"/>
          </a:xfrm>
          <a:prstGeom prst="rightArrow">
            <a:avLst/>
          </a:prstGeom>
          <a:solidFill>
            <a:schemeClr val="accent1"/>
          </a:solidFill>
          <a:ln/>
        </p:spPr>
      </p:sp>
      <p:sp>
        <p:nvSpPr>
          <p:cNvPr id="16" name="kartu-250"/>
          <p:cNvSpPr/>
          <p:nvPr/>
        </p:nvSpPr>
        <p:spPr>
          <a:xfrm>
            <a:off x="9107424" y="1920240"/>
            <a:ext cx="2395728" cy="1417320"/>
          </a:xfrm>
          <a:prstGeom prst="roundRect">
            <a:avLst>
              <a:gd name="adj" fmla="val 9032"/>
            </a:avLst>
          </a:prstGeom>
          <a:solidFill>
            <a:schemeClr val="tx2"/>
          </a:solidFill>
          <a:ln/>
          <a:effectLst>
            <a:outerShdw sx="100000" sy="100000" kx="0" ky="0" algn="bl" rotWithShape="0" blurRad="101600" dist="25400" dir="5400000">
              <a:srgbClr val="172554">
                <a:alpha val="8000"/>
              </a:srgbClr>
            </a:outerShdw>
          </a:effectLst>
        </p:spPr>
      </p:sp>
      <p:sp>
        <p:nvSpPr>
          <p:cNvPr id="17" name="teks-251"/>
          <p:cNvSpPr txBox="1"/>
          <p:nvPr/>
        </p:nvSpPr>
        <p:spPr>
          <a:xfrm>
            <a:off x="9363456" y="2103120"/>
            <a:ext cx="1938528" cy="365760"/>
          </a:xfrm>
          <a:prstGeom prst="rect">
            <a:avLst/>
          </a:prstGeom>
          <a:noFill/>
          <a:ln/>
        </p:spPr>
        <p:txBody>
          <a:bodyPr wrap="square" lIns="0" tIns="0" rIns="0" bIns="0" rtlCol="0" anchor="t"/>
          <a:lstStyle/>
          <a:p>
            <a:pPr indent="0" marL="0">
              <a:buNone/>
            </a:pPr>
            <a:r>
              <a:rPr lang="en-US" sz="1800" b="1" dirty="0">
                <a:solidFill>
                  <a:schemeClr val="accent2"/>
                </a:solidFill>
              </a:rPr>
              <a:t>Bayar via VA</a:t>
            </a:r>
            <a:endParaRPr lang="en-US" sz="1800" dirty="0"/>
          </a:p>
        </p:txBody>
      </p:sp>
      <p:sp>
        <p:nvSpPr>
          <p:cNvPr id="18" name="teks-252"/>
          <p:cNvSpPr txBox="1"/>
          <p:nvPr/>
        </p:nvSpPr>
        <p:spPr>
          <a:xfrm>
            <a:off x="9363456" y="2514600"/>
            <a:ext cx="1938528" cy="731520"/>
          </a:xfrm>
          <a:prstGeom prst="rect">
            <a:avLst/>
          </a:prstGeom>
          <a:noFill/>
          <a:ln/>
        </p:spPr>
        <p:txBody>
          <a:bodyPr wrap="square" lIns="0" tIns="0" rIns="0" bIns="0" rtlCol="0" anchor="t"/>
          <a:lstStyle/>
          <a:p>
            <a:pPr indent="0" marL="0">
              <a:buNone/>
            </a:pPr>
            <a:r>
              <a:rPr lang="en-US" sz="1300" dirty="0">
                <a:solidFill>
                  <a:srgbClr val="BFDBFE"/>
                </a:solidFill>
              </a:rPr>
              <a:t>Kode bayar = nomor VA, lihat di Riwayat</a:t>
            </a:r>
            <a:endParaRPr lang="en-US" sz="1300" dirty="0"/>
          </a:p>
        </p:txBody>
      </p:sp>
      <p:sp>
        <p:nvSpPr>
          <p:cNvPr id="19" name="teks-253"/>
          <p:cNvSpPr txBox="1"/>
          <p:nvPr/>
        </p:nvSpPr>
        <p:spPr>
          <a:xfrm>
            <a:off x="685800" y="3749040"/>
            <a:ext cx="5486400" cy="320040"/>
          </a:xfrm>
          <a:prstGeom prst="rect">
            <a:avLst/>
          </a:prstGeom>
          <a:noFill/>
          <a:ln/>
        </p:spPr>
        <p:txBody>
          <a:bodyPr wrap="square" lIns="0" tIns="0" rIns="0" bIns="0" rtlCol="0" anchor="t"/>
          <a:lstStyle/>
          <a:p>
            <a:pPr indent="0" marL="0">
              <a:buNone/>
            </a:pPr>
            <a:r>
              <a:rPr lang="en-US" sz="1500" b="1" dirty="0">
                <a:solidFill>
                  <a:srgbClr val="334155"/>
                </a:solidFill>
              </a:rPr>
              <a:t>Badge status di kartu kegiatan</a:t>
            </a:r>
            <a:endParaRPr lang="en-US" sz="1500" dirty="0"/>
          </a:p>
        </p:txBody>
      </p:sp>
      <p:sp>
        <p:nvSpPr>
          <p:cNvPr id="20" name="badge-254"/>
          <p:cNvSpPr/>
          <p:nvPr/>
        </p:nvSpPr>
        <p:spPr>
          <a:xfrm>
            <a:off x="685800" y="4206240"/>
            <a:ext cx="1691640" cy="384048"/>
          </a:xfrm>
          <a:prstGeom prst="roundRect">
            <a:avLst>
              <a:gd name="adj" fmla="val 50000"/>
            </a:avLst>
          </a:prstGeom>
          <a:solidFill>
            <a:srgbClr val="DCFCE7"/>
          </a:solidFill>
          <a:ln/>
        </p:spPr>
      </p:sp>
      <p:sp>
        <p:nvSpPr>
          <p:cNvPr id="21" name="teks-255"/>
          <p:cNvSpPr txBox="1"/>
          <p:nvPr/>
        </p:nvSpPr>
        <p:spPr>
          <a:xfrm>
            <a:off x="685800" y="4206240"/>
            <a:ext cx="1691640" cy="384048"/>
          </a:xfrm>
          <a:prstGeom prst="rect">
            <a:avLst/>
          </a:prstGeom>
          <a:noFill/>
          <a:ln/>
        </p:spPr>
        <p:txBody>
          <a:bodyPr wrap="square" lIns="0" tIns="0" rIns="0" bIns="0" rtlCol="0" anchor="ctr"/>
          <a:lstStyle/>
          <a:p>
            <a:pPr algn="ctr" indent="0" marL="0">
              <a:buNone/>
            </a:pPr>
            <a:r>
              <a:rPr lang="en-US" sz="1300" b="1" dirty="0">
                <a:solidFill>
                  <a:srgbClr val="15803D"/>
                </a:solidFill>
              </a:rPr>
              <a:t>Bisa Didaftar</a:t>
            </a:r>
            <a:endParaRPr lang="en-US" sz="1300" dirty="0"/>
          </a:p>
        </p:txBody>
      </p:sp>
      <p:sp>
        <p:nvSpPr>
          <p:cNvPr id="22" name="badge-256"/>
          <p:cNvSpPr/>
          <p:nvPr/>
        </p:nvSpPr>
        <p:spPr>
          <a:xfrm>
            <a:off x="2560320" y="4206240"/>
            <a:ext cx="1874520" cy="384048"/>
          </a:xfrm>
          <a:prstGeom prst="roundRect">
            <a:avLst>
              <a:gd name="adj" fmla="val 50000"/>
            </a:avLst>
          </a:prstGeom>
          <a:solidFill>
            <a:srgbClr val="DBEAFE"/>
          </a:solidFill>
          <a:ln/>
        </p:spPr>
      </p:sp>
      <p:sp>
        <p:nvSpPr>
          <p:cNvPr id="23" name="teks-257"/>
          <p:cNvSpPr txBox="1"/>
          <p:nvPr/>
        </p:nvSpPr>
        <p:spPr>
          <a:xfrm>
            <a:off x="2560320" y="4206240"/>
            <a:ext cx="1874520" cy="384048"/>
          </a:xfrm>
          <a:prstGeom prst="rect">
            <a:avLst/>
          </a:prstGeom>
          <a:noFill/>
          <a:ln/>
        </p:spPr>
        <p:txBody>
          <a:bodyPr wrap="square" lIns="0" tIns="0" rIns="0" bIns="0" rtlCol="0" anchor="ctr"/>
          <a:lstStyle/>
          <a:p>
            <a:pPr algn="ctr" indent="0" marL="0">
              <a:buNone/>
            </a:pPr>
            <a:r>
              <a:rPr lang="en-US" sz="1300" b="1" dirty="0">
                <a:solidFill>
                  <a:srgbClr val="1D4ED8"/>
                </a:solidFill>
              </a:rPr>
              <a:t>Sudah Terdaftar</a:t>
            </a:r>
            <a:endParaRPr lang="en-US" sz="1300" dirty="0"/>
          </a:p>
        </p:txBody>
      </p:sp>
      <p:sp>
        <p:nvSpPr>
          <p:cNvPr id="24" name="badge-258"/>
          <p:cNvSpPr/>
          <p:nvPr/>
        </p:nvSpPr>
        <p:spPr>
          <a:xfrm>
            <a:off x="4617720" y="4206240"/>
            <a:ext cx="2606040" cy="384048"/>
          </a:xfrm>
          <a:prstGeom prst="roundRect">
            <a:avLst>
              <a:gd name="adj" fmla="val 50000"/>
            </a:avLst>
          </a:prstGeom>
          <a:solidFill>
            <a:srgbClr val="FEF3C7"/>
          </a:solidFill>
          <a:ln/>
        </p:spPr>
      </p:sp>
      <p:sp>
        <p:nvSpPr>
          <p:cNvPr id="25" name="teks-259"/>
          <p:cNvSpPr txBox="1"/>
          <p:nvPr/>
        </p:nvSpPr>
        <p:spPr>
          <a:xfrm>
            <a:off x="4617720" y="4206240"/>
            <a:ext cx="2606040" cy="384048"/>
          </a:xfrm>
          <a:prstGeom prst="rect">
            <a:avLst/>
          </a:prstGeom>
          <a:noFill/>
          <a:ln/>
        </p:spPr>
        <p:txBody>
          <a:bodyPr wrap="square" lIns="0" tIns="0" rIns="0" bIns="0" rtlCol="0" anchor="ctr"/>
          <a:lstStyle/>
          <a:p>
            <a:pPr algn="ctr" indent="0" marL="0">
              <a:buNone/>
            </a:pPr>
            <a:r>
              <a:rPr lang="en-US" sz="1300" b="1" dirty="0">
                <a:solidFill>
                  <a:srgbClr val="92400E"/>
                </a:solidFill>
              </a:rPr>
              <a:t>Belum Memenuhi Syarat</a:t>
            </a:r>
            <a:endParaRPr lang="en-US" sz="1300" dirty="0"/>
          </a:p>
        </p:txBody>
      </p:sp>
      <p:sp>
        <p:nvSpPr>
          <p:cNvPr id="26" name="badge-260"/>
          <p:cNvSpPr/>
          <p:nvPr/>
        </p:nvSpPr>
        <p:spPr>
          <a:xfrm>
            <a:off x="7406640" y="4206240"/>
            <a:ext cx="1828800" cy="384048"/>
          </a:xfrm>
          <a:prstGeom prst="roundRect">
            <a:avLst>
              <a:gd name="adj" fmla="val 50000"/>
            </a:avLst>
          </a:prstGeom>
          <a:solidFill>
            <a:srgbClr val="E2E8F0"/>
          </a:solidFill>
          <a:ln/>
        </p:spPr>
      </p:sp>
      <p:sp>
        <p:nvSpPr>
          <p:cNvPr id="27" name="teks-261"/>
          <p:cNvSpPr txBox="1"/>
          <p:nvPr/>
        </p:nvSpPr>
        <p:spPr>
          <a:xfrm>
            <a:off x="7406640" y="4206240"/>
            <a:ext cx="1828800" cy="384048"/>
          </a:xfrm>
          <a:prstGeom prst="rect">
            <a:avLst/>
          </a:prstGeom>
          <a:noFill/>
          <a:ln/>
        </p:spPr>
        <p:txBody>
          <a:bodyPr wrap="square" lIns="0" tIns="0" rIns="0" bIns="0" rtlCol="0" anchor="ctr"/>
          <a:lstStyle/>
          <a:p>
            <a:pPr algn="ctr" indent="0" marL="0">
              <a:buNone/>
            </a:pPr>
            <a:r>
              <a:rPr lang="en-US" sz="1300" b="1" dirty="0">
                <a:solidFill>
                  <a:srgbClr val="475569"/>
                </a:solidFill>
              </a:rPr>
              <a:t>Periode Ditutup</a:t>
            </a:r>
            <a:endParaRPr lang="en-US" sz="1300" dirty="0"/>
          </a:p>
        </p:txBody>
      </p:sp>
      <p:sp>
        <p:nvSpPr>
          <p:cNvPr id="28" name="teks-262"/>
          <p:cNvSpPr txBox="1"/>
          <p:nvPr/>
        </p:nvSpPr>
        <p:spPr>
          <a:xfrm>
            <a:off x="685800" y="4892040"/>
            <a:ext cx="9601200" cy="457200"/>
          </a:xfrm>
          <a:prstGeom prst="rect">
            <a:avLst/>
          </a:prstGeom>
          <a:noFill/>
          <a:ln/>
        </p:spPr>
        <p:txBody>
          <a:bodyPr wrap="square" lIns="0" tIns="0" rIns="0" bIns="0" rtlCol="0" anchor="t"/>
          <a:lstStyle/>
          <a:p>
            <a:pPr indent="0" marL="0">
              <a:buNone/>
            </a:pPr>
            <a:r>
              <a:rPr lang="en-US" sz="1400" dirty="0">
                <a:solidFill>
                  <a:schemeClr val="accent6"/>
                </a:solidFill>
              </a:rPr>
              <a:t>Kegiatan yang tidak dibuka untuk prodi, angkatan, atau kelas Anda tidak akan tampil di daftar.</a:t>
            </a:r>
            <a:endParaRPr lang="en-US" sz="14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PENDAFTARAN · TAMPILAN HALAMAN</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Pilih kegiatan, lalu pantau riwayatnya</a:t>
            </a:r>
            <a:endParaRPr lang="en-US" sz="3400" dirty="0"/>
          </a:p>
        </p:txBody>
      </p:sp>
      <p:sp>
        <p:nvSpPr>
          <p:cNvPr id="4" name="bingkai-263"/>
          <p:cNvSpPr/>
          <p:nvPr/>
        </p:nvSpPr>
        <p:spPr>
          <a:xfrm>
            <a:off x="640080" y="1828800"/>
            <a:ext cx="5317236" cy="3357563"/>
          </a:xfrm>
          <a:prstGeom prst="roundRect">
            <a:avLst>
              <a:gd name="adj" fmla="val 2179"/>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5" name="screenshot-264" descr="Halaman Daftar KKN berisi kartu kegiatan">    </p:cNvPr>
          <p:cNvPicPr>
            <a:picLocks noChangeAspect="1"/>
          </p:cNvPicPr>
          <p:nvPr/>
        </p:nvPicPr>
        <p:blipFill>
          <a:blip r:embed="rId1"/>
          <a:stretch>
            <a:fillRect/>
          </a:stretch>
        </p:blipFill>
        <p:spPr>
          <a:xfrm>
            <a:off x="685800" y="1874520"/>
            <a:ext cx="5225796" cy="3266123"/>
          </a:xfrm>
          <a:prstGeom prst="rect">
            <a:avLst/>
          </a:prstGeom>
        </p:spPr>
      </p:pic>
      <p:sp>
        <p:nvSpPr>
          <p:cNvPr id="6" name="bingkai-265"/>
          <p:cNvSpPr/>
          <p:nvPr/>
        </p:nvSpPr>
        <p:spPr>
          <a:xfrm>
            <a:off x="6231636" y="1828800"/>
            <a:ext cx="5317236" cy="3357563"/>
          </a:xfrm>
          <a:prstGeom prst="roundRect">
            <a:avLst>
              <a:gd name="adj" fmla="val 2179"/>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7" name="screenshot-266" descr="Halaman Riwayat Pendaftaran KKN">    </p:cNvPr>
          <p:cNvPicPr>
            <a:picLocks noChangeAspect="1"/>
          </p:cNvPicPr>
          <p:nvPr/>
        </p:nvPicPr>
        <p:blipFill>
          <a:blip r:embed="rId2"/>
          <a:stretch>
            <a:fillRect/>
          </a:stretch>
        </p:blipFill>
        <p:spPr>
          <a:xfrm>
            <a:off x="6277356" y="1874520"/>
            <a:ext cx="5225796" cy="3266123"/>
          </a:xfrm>
          <a:prstGeom prst="rect">
            <a:avLst/>
          </a:prstGeom>
        </p:spPr>
      </p:pic>
      <p:sp>
        <p:nvSpPr>
          <p:cNvPr id="8" name="teks-267"/>
          <p:cNvSpPr txBox="1"/>
          <p:nvPr/>
        </p:nvSpPr>
        <p:spPr>
          <a:xfrm>
            <a:off x="685800" y="5414962"/>
            <a:ext cx="5225796" cy="822960"/>
          </a:xfrm>
          <a:prstGeom prst="rect">
            <a:avLst/>
          </a:prstGeom>
          <a:noFill/>
          <a:ln/>
        </p:spPr>
        <p:txBody>
          <a:bodyPr wrap="square" lIns="0" tIns="0" rIns="0" bIns="0" rtlCol="0" anchor="t"/>
          <a:lstStyle/>
          <a:p>
            <a:pPr indent="0" marL="0">
              <a:buNone/>
            </a:pPr>
            <a:r>
              <a:rPr lang="en-US" sz="1300" b="1" dirty="0">
                <a:solidFill>
                  <a:srgbClr val="334155"/>
                </a:solidFill>
              </a:rPr>
              <a:t>Daftar KKN · </a:t>
            </a:r>
            <a:pPr indent="0" marL="0">
              <a:buNone/>
            </a:pPr>
            <a:r>
              <a:rPr lang="en-US" sz="1300" dirty="0">
                <a:solidFill>
                  <a:srgbClr val="334155"/>
                </a:solidFill>
              </a:rPr>
              <a:t>Tiap kartu menampilkan biaya, syarat, dan badge status. Alasan tidak memenuhi syarat tampil di kotak merah.</a:t>
            </a:r>
            <a:endParaRPr lang="en-US" sz="1300" dirty="0"/>
          </a:p>
        </p:txBody>
      </p:sp>
      <p:sp>
        <p:nvSpPr>
          <p:cNvPr id="9" name="teks-268"/>
          <p:cNvSpPr txBox="1"/>
          <p:nvPr/>
        </p:nvSpPr>
        <p:spPr>
          <a:xfrm>
            <a:off x="6277356" y="5414962"/>
            <a:ext cx="5225796" cy="822960"/>
          </a:xfrm>
          <a:prstGeom prst="rect">
            <a:avLst/>
          </a:prstGeom>
          <a:noFill/>
          <a:ln/>
        </p:spPr>
        <p:txBody>
          <a:bodyPr wrap="square" lIns="0" tIns="0" rIns="0" bIns="0" rtlCol="0" anchor="t"/>
          <a:lstStyle/>
          <a:p>
            <a:pPr indent="0" marL="0">
              <a:buNone/>
            </a:pPr>
            <a:r>
              <a:rPr lang="en-US" sz="1300" b="1" dirty="0">
                <a:solidFill>
                  <a:srgbClr val="334155"/>
                </a:solidFill>
              </a:rPr>
              <a:t>Riwayat Pendaftaran · </a:t>
            </a:r>
            <a:pPr indent="0" marL="0">
              <a:buNone/>
            </a:pPr>
            <a:r>
              <a:rPr lang="en-US" sz="1300" dirty="0">
                <a:solidFill>
                  <a:srgbClr val="334155"/>
                </a:solidFill>
              </a:rPr>
              <a:t>Kode Bayar / VA (ada tombol Salin), biaya, tanggal daftar, dan batas akhir pembayaran.</a:t>
            </a:r>
            <a:endParaRPr lang="en-US" sz="13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KEUANGAN · RIWAYAT TAGIHAN</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Pantau semua tagihan dan statusnya</a:t>
            </a:r>
            <a:endParaRPr lang="en-US" sz="3400" dirty="0"/>
          </a:p>
        </p:txBody>
      </p:sp>
      <p:sp>
        <p:nvSpPr>
          <p:cNvPr id="4" name="poin-269"/>
          <p:cNvSpPr/>
          <p:nvPr/>
        </p:nvSpPr>
        <p:spPr>
          <a:xfrm>
            <a:off x="685800" y="2020824"/>
            <a:ext cx="128016" cy="128016"/>
          </a:xfrm>
          <a:prstGeom prst="ellipse">
            <a:avLst/>
          </a:prstGeom>
          <a:solidFill>
            <a:schemeClr val="accent2"/>
          </a:solidFill>
          <a:ln/>
        </p:spPr>
      </p:sp>
      <p:sp>
        <p:nvSpPr>
          <p:cNvPr id="5" name="teks-270"/>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Ringkasan</a:t>
            </a:r>
            <a:endParaRPr lang="en-US" sz="1500" dirty="0"/>
          </a:p>
        </p:txBody>
      </p:sp>
      <p:sp>
        <p:nvSpPr>
          <p:cNvPr id="6" name="teks-271"/>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Jumlah Tagihan dan Total Belum Lunas.</a:t>
            </a:r>
            <a:endParaRPr lang="en-US" sz="1300" dirty="0"/>
          </a:p>
        </p:txBody>
      </p:sp>
      <p:sp>
        <p:nvSpPr>
          <p:cNvPr id="7" name="poin-272"/>
          <p:cNvSpPr/>
          <p:nvPr/>
        </p:nvSpPr>
        <p:spPr>
          <a:xfrm>
            <a:off x="685800" y="2980944"/>
            <a:ext cx="128016" cy="128016"/>
          </a:xfrm>
          <a:prstGeom prst="ellipse">
            <a:avLst/>
          </a:prstGeom>
          <a:solidFill>
            <a:schemeClr val="accent2"/>
          </a:solidFill>
          <a:ln/>
        </p:spPr>
      </p:sp>
      <p:sp>
        <p:nvSpPr>
          <p:cNvPr id="8" name="teks-273"/>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Daftar tagihan</a:t>
            </a:r>
            <a:endParaRPr lang="en-US" sz="1500" dirty="0"/>
          </a:p>
        </p:txBody>
      </p:sp>
      <p:sp>
        <p:nvSpPr>
          <p:cNvPr id="9" name="teks-274"/>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Nomor tagihan, jenis, periode, ditagih, terbayar, batas waktu.</a:t>
            </a:r>
            <a:endParaRPr lang="en-US" sz="1300" dirty="0"/>
          </a:p>
        </p:txBody>
      </p:sp>
      <p:sp>
        <p:nvSpPr>
          <p:cNvPr id="10" name="poin-275"/>
          <p:cNvSpPr/>
          <p:nvPr/>
        </p:nvSpPr>
        <p:spPr>
          <a:xfrm>
            <a:off x="685800" y="3941064"/>
            <a:ext cx="128016" cy="128016"/>
          </a:xfrm>
          <a:prstGeom prst="ellipse">
            <a:avLst/>
          </a:prstGeom>
          <a:solidFill>
            <a:schemeClr val="accent2"/>
          </a:solidFill>
          <a:ln/>
        </p:spPr>
      </p:sp>
      <p:sp>
        <p:nvSpPr>
          <p:cNvPr id="11" name="teks-276"/>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Status</a:t>
            </a:r>
            <a:endParaRPr lang="en-US" sz="1500" dirty="0"/>
          </a:p>
        </p:txBody>
      </p:sp>
      <p:sp>
        <p:nvSpPr>
          <p:cNvPr id="12" name="teks-277"/>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b="1" dirty="0">
                <a:solidFill>
                  <a:schemeClr val="accent6"/>
                </a:solidFill>
              </a:rPr>
              <a:t>Lunas</a:t>
            </a:r>
            <a:pPr indent="0" marL="0">
              <a:buNone/>
            </a:pPr>
            <a:r>
              <a:rPr lang="en-US" sz="1300" dirty="0">
                <a:solidFill>
                  <a:schemeClr val="accent6"/>
                </a:solidFill>
              </a:rPr>
              <a:t> (hijau) atau </a:t>
            </a:r>
            <a:pPr indent="0" marL="0">
              <a:buNone/>
            </a:pPr>
            <a:r>
              <a:rPr lang="en-US" sz="1300" b="1" dirty="0">
                <a:solidFill>
                  <a:schemeClr val="accent6"/>
                </a:solidFill>
              </a:rPr>
              <a:t>Belum Lunas</a:t>
            </a:r>
            <a:pPr indent="0" marL="0">
              <a:buNone/>
            </a:pPr>
            <a:r>
              <a:rPr lang="en-US" sz="1300" dirty="0">
                <a:solidFill>
                  <a:schemeClr val="accent6"/>
                </a:solidFill>
              </a:rPr>
              <a:t> (kuning).</a:t>
            </a:r>
            <a:endParaRPr lang="en-US" sz="1300" dirty="0"/>
          </a:p>
        </p:txBody>
      </p:sp>
      <p:sp>
        <p:nvSpPr>
          <p:cNvPr id="13" name="callout-278"/>
          <p:cNvSpPr/>
          <p:nvPr/>
        </p:nvSpPr>
        <p:spPr>
          <a:xfrm>
            <a:off x="685800" y="4937760"/>
            <a:ext cx="3794760" cy="868680"/>
          </a:xfrm>
          <a:prstGeom prst="roundRect">
            <a:avLst>
              <a:gd name="adj" fmla="val 12632"/>
            </a:avLst>
          </a:prstGeom>
          <a:solidFill>
            <a:srgbClr val="DBEAFE"/>
          </a:solidFill>
          <a:ln/>
        </p:spPr>
      </p:sp>
      <p:pic>
        <p:nvPicPr>
          <p:cNvPr id="14" name="ikon-279" descr="preencoded.png">    </p:cNvPr>
          <p:cNvPicPr>
            <a:picLocks noChangeAspect="1"/>
          </p:cNvPicPr>
          <p:nvPr/>
        </p:nvPicPr>
        <p:blipFill>
          <a:blip r:embed="rId1"/>
          <a:stretch>
            <a:fillRect/>
          </a:stretch>
        </p:blipFill>
        <p:spPr>
          <a:xfrm>
            <a:off x="914400" y="5207508"/>
            <a:ext cx="329184" cy="329184"/>
          </a:xfrm>
          <a:prstGeom prst="rect">
            <a:avLst/>
          </a:prstGeom>
        </p:spPr>
      </p:pic>
      <p:sp>
        <p:nvSpPr>
          <p:cNvPr id="15" name="teks-280"/>
          <p:cNvSpPr txBox="1"/>
          <p:nvPr/>
        </p:nvSpPr>
        <p:spPr>
          <a:xfrm>
            <a:off x="1417320" y="4937760"/>
            <a:ext cx="2880360" cy="868680"/>
          </a:xfrm>
          <a:prstGeom prst="rect">
            <a:avLst/>
          </a:prstGeom>
          <a:noFill/>
          <a:ln/>
        </p:spPr>
        <p:txBody>
          <a:bodyPr wrap="square" lIns="0" tIns="0" rIns="0" bIns="0" rtlCol="0" anchor="ctr"/>
          <a:lstStyle/>
          <a:p>
            <a:pPr indent="0" marL="0">
              <a:buNone/>
            </a:pPr>
            <a:r>
              <a:rPr lang="en-US" sz="1400" dirty="0">
                <a:solidFill>
                  <a:srgbClr val="1E3A8A"/>
                </a:solidFill>
              </a:rPr>
              <a:t>Pembayaran dilakukan di </a:t>
            </a:r>
            <a:pPr indent="0" marL="0">
              <a:buNone/>
            </a:pPr>
            <a:r>
              <a:rPr lang="en-US" sz="1400" b="1" dirty="0">
                <a:solidFill>
                  <a:srgbClr val="1E3A8A"/>
                </a:solidFill>
              </a:rPr>
              <a:t>bank</a:t>
            </a:r>
            <a:pPr indent="0" marL="0">
              <a:buNone/>
            </a:pPr>
            <a:r>
              <a:rPr lang="en-US" sz="1400" dirty="0">
                <a:solidFill>
                  <a:srgbClr val="1E3A8A"/>
                </a:solidFill>
              </a:rPr>
              <a:t> memakai nomor tagihan sebagai Kode Bayar / VA.</a:t>
            </a:r>
            <a:endParaRPr lang="en-US" sz="1400" dirty="0"/>
          </a:p>
        </p:txBody>
      </p:sp>
      <p:sp>
        <p:nvSpPr>
          <p:cNvPr id="16" name="bingkai-281"/>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282" descr="Halaman Riwayat Tagihan">    </p:cNvPr>
          <p:cNvPicPr>
            <a:picLocks noChangeAspect="1"/>
          </p:cNvPicPr>
          <p:nvPr/>
        </p:nvPicPr>
        <p:blipFill>
          <a:blip r:embed="rId2"/>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LAINNYA · RIWAYAT BEASISWA</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Riwayat beasiswa per tahun akademik</a:t>
            </a:r>
            <a:endParaRPr lang="en-US" sz="3400" dirty="0"/>
          </a:p>
        </p:txBody>
      </p:sp>
      <p:sp>
        <p:nvSpPr>
          <p:cNvPr id="4" name="poin-283"/>
          <p:cNvSpPr/>
          <p:nvPr/>
        </p:nvSpPr>
        <p:spPr>
          <a:xfrm>
            <a:off x="685800" y="2020824"/>
            <a:ext cx="128016" cy="128016"/>
          </a:xfrm>
          <a:prstGeom prst="ellipse">
            <a:avLst/>
          </a:prstGeom>
          <a:solidFill>
            <a:schemeClr val="accent2"/>
          </a:solidFill>
          <a:ln/>
        </p:spPr>
      </p:sp>
      <p:sp>
        <p:nvSpPr>
          <p:cNvPr id="5" name="teks-284"/>
          <p:cNvSpPr txBox="1"/>
          <p:nvPr/>
        </p:nvSpPr>
        <p:spPr>
          <a:xfrm>
            <a:off x="960120" y="1920240"/>
            <a:ext cx="3520440" cy="310896"/>
          </a:xfrm>
          <a:prstGeom prst="rect">
            <a:avLst/>
          </a:prstGeom>
          <a:noFill/>
          <a:ln/>
        </p:spPr>
        <p:txBody>
          <a:bodyPr wrap="square" lIns="0" tIns="0" rIns="0" bIns="0" rtlCol="0" anchor="t"/>
          <a:lstStyle/>
          <a:p>
            <a:pPr indent="0" marL="0">
              <a:buNone/>
            </a:pPr>
            <a:r>
              <a:rPr lang="en-US" sz="1500" b="1" dirty="0">
                <a:solidFill>
                  <a:schemeClr val="tx1"/>
                </a:solidFill>
              </a:rPr>
              <a:t>Ringkasan</a:t>
            </a:r>
            <a:endParaRPr lang="en-US" sz="1500" dirty="0"/>
          </a:p>
        </p:txBody>
      </p:sp>
      <p:sp>
        <p:nvSpPr>
          <p:cNvPr id="6" name="teks-285"/>
          <p:cNvSpPr txBox="1"/>
          <p:nvPr/>
        </p:nvSpPr>
        <p:spPr>
          <a:xfrm>
            <a:off x="960120" y="225856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Jumlah tahun akademik dijamin dan beasiswa tahun aktif.</a:t>
            </a:r>
            <a:endParaRPr lang="en-US" sz="1300" dirty="0"/>
          </a:p>
        </p:txBody>
      </p:sp>
      <p:sp>
        <p:nvSpPr>
          <p:cNvPr id="7" name="poin-286"/>
          <p:cNvSpPr/>
          <p:nvPr/>
        </p:nvSpPr>
        <p:spPr>
          <a:xfrm>
            <a:off x="685800" y="2980944"/>
            <a:ext cx="128016" cy="128016"/>
          </a:xfrm>
          <a:prstGeom prst="ellipse">
            <a:avLst/>
          </a:prstGeom>
          <a:solidFill>
            <a:schemeClr val="accent2"/>
          </a:solidFill>
          <a:ln/>
        </p:spPr>
      </p:sp>
      <p:sp>
        <p:nvSpPr>
          <p:cNvPr id="8" name="teks-287"/>
          <p:cNvSpPr txBox="1"/>
          <p:nvPr/>
        </p:nvSpPr>
        <p:spPr>
          <a:xfrm>
            <a:off x="960120" y="2880360"/>
            <a:ext cx="3520440" cy="310896"/>
          </a:xfrm>
          <a:prstGeom prst="rect">
            <a:avLst/>
          </a:prstGeom>
          <a:noFill/>
          <a:ln/>
        </p:spPr>
        <p:txBody>
          <a:bodyPr wrap="square" lIns="0" tIns="0" rIns="0" bIns="0" rtlCol="0" anchor="t"/>
          <a:lstStyle/>
          <a:p>
            <a:pPr indent="0" marL="0">
              <a:buNone/>
            </a:pPr>
            <a:r>
              <a:rPr lang="en-US" sz="1500" b="1" dirty="0">
                <a:solidFill>
                  <a:schemeClr val="tx1"/>
                </a:solidFill>
              </a:rPr>
              <a:t>Detail</a:t>
            </a:r>
            <a:endParaRPr lang="en-US" sz="1500" dirty="0"/>
          </a:p>
        </p:txBody>
      </p:sp>
      <p:sp>
        <p:nvSpPr>
          <p:cNvPr id="9" name="teks-288"/>
          <p:cNvSpPr txBox="1"/>
          <p:nvPr/>
        </p:nvSpPr>
        <p:spPr>
          <a:xfrm>
            <a:off x="960120" y="321868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Nama beasiswa, lembaga, tanggungan </a:t>
            </a:r>
            <a:pPr indent="0" marL="0">
              <a:buNone/>
            </a:pPr>
            <a:r>
              <a:rPr lang="en-US" sz="1300" b="1" dirty="0">
                <a:solidFill>
                  <a:schemeClr val="accent6"/>
                </a:solidFill>
              </a:rPr>
              <a:t>Penuh</a:t>
            </a:r>
            <a:pPr indent="0" marL="0">
              <a:buNone/>
            </a:pPr>
            <a:r>
              <a:rPr lang="en-US" sz="1300" dirty="0">
                <a:solidFill>
                  <a:schemeClr val="accent6"/>
                </a:solidFill>
              </a:rPr>
              <a:t>/</a:t>
            </a:r>
            <a:pPr indent="0" marL="0">
              <a:buNone/>
            </a:pPr>
            <a:r>
              <a:rPr lang="en-US" sz="1300" b="1" dirty="0">
                <a:solidFill>
                  <a:schemeClr val="accent6"/>
                </a:solidFill>
              </a:rPr>
              <a:t>Sebagian</a:t>
            </a:r>
            <a:pPr indent="0" marL="0">
              <a:buNone/>
            </a:pPr>
            <a:r>
              <a:rPr lang="en-US" sz="1300" dirty="0">
                <a:solidFill>
                  <a:schemeClr val="accent6"/>
                </a:solidFill>
              </a:rPr>
              <a:t>, nilai jaminan.</a:t>
            </a:r>
            <a:endParaRPr lang="en-US" sz="1300" dirty="0"/>
          </a:p>
        </p:txBody>
      </p:sp>
      <p:sp>
        <p:nvSpPr>
          <p:cNvPr id="10" name="poin-289"/>
          <p:cNvSpPr/>
          <p:nvPr/>
        </p:nvSpPr>
        <p:spPr>
          <a:xfrm>
            <a:off x="685800" y="3941064"/>
            <a:ext cx="128016" cy="128016"/>
          </a:xfrm>
          <a:prstGeom prst="ellipse">
            <a:avLst/>
          </a:prstGeom>
          <a:solidFill>
            <a:schemeClr val="accent2"/>
          </a:solidFill>
          <a:ln/>
        </p:spPr>
      </p:sp>
      <p:sp>
        <p:nvSpPr>
          <p:cNvPr id="11" name="teks-290"/>
          <p:cNvSpPr txBox="1"/>
          <p:nvPr/>
        </p:nvSpPr>
        <p:spPr>
          <a:xfrm>
            <a:off x="960120" y="3840480"/>
            <a:ext cx="3520440" cy="310896"/>
          </a:xfrm>
          <a:prstGeom prst="rect">
            <a:avLst/>
          </a:prstGeom>
          <a:noFill/>
          <a:ln/>
        </p:spPr>
        <p:txBody>
          <a:bodyPr wrap="square" lIns="0" tIns="0" rIns="0" bIns="0" rtlCol="0" anchor="t"/>
          <a:lstStyle/>
          <a:p>
            <a:pPr indent="0" marL="0">
              <a:buNone/>
            </a:pPr>
            <a:r>
              <a:rPr lang="en-US" sz="1500" b="1" dirty="0">
                <a:solidFill>
                  <a:schemeClr val="tx1"/>
                </a:solidFill>
              </a:rPr>
              <a:t>Verifikasi</a:t>
            </a:r>
            <a:endParaRPr lang="en-US" sz="1500" dirty="0"/>
          </a:p>
        </p:txBody>
      </p:sp>
      <p:sp>
        <p:nvSpPr>
          <p:cNvPr id="12" name="teks-291"/>
          <p:cNvSpPr txBox="1"/>
          <p:nvPr/>
        </p:nvSpPr>
        <p:spPr>
          <a:xfrm>
            <a:off x="960120" y="4178808"/>
            <a:ext cx="3520440" cy="457200"/>
          </a:xfrm>
          <a:prstGeom prst="rect">
            <a:avLst/>
          </a:prstGeom>
          <a:noFill/>
          <a:ln/>
        </p:spPr>
        <p:txBody>
          <a:bodyPr wrap="square" lIns="0" tIns="0" rIns="0" bIns="0" rtlCol="0" anchor="t"/>
          <a:lstStyle/>
          <a:p>
            <a:pPr indent="0" marL="0">
              <a:buNone/>
            </a:pPr>
            <a:r>
              <a:rPr lang="en-US" sz="1300" dirty="0">
                <a:solidFill>
                  <a:schemeClr val="accent6"/>
                </a:solidFill>
              </a:rPr>
              <a:t>Terverifikasi, Belum Diverifikasi, atau Dibatalkan.</a:t>
            </a:r>
            <a:endParaRPr lang="en-US" sz="1300" dirty="0"/>
          </a:p>
        </p:txBody>
      </p:sp>
      <p:sp>
        <p:nvSpPr>
          <p:cNvPr id="13" name="callout-292"/>
          <p:cNvSpPr/>
          <p:nvPr/>
        </p:nvSpPr>
        <p:spPr>
          <a:xfrm>
            <a:off x="685800" y="4937760"/>
            <a:ext cx="3794760" cy="868680"/>
          </a:xfrm>
          <a:prstGeom prst="roundRect">
            <a:avLst>
              <a:gd name="adj" fmla="val 12632"/>
            </a:avLst>
          </a:prstGeom>
          <a:solidFill>
            <a:srgbClr val="FEF3C7"/>
          </a:solidFill>
          <a:ln/>
        </p:spPr>
      </p:sp>
      <p:pic>
        <p:nvPicPr>
          <p:cNvPr id="14" name="ikon-293" descr="preencoded.png">    </p:cNvPr>
          <p:cNvPicPr>
            <a:picLocks noChangeAspect="1"/>
          </p:cNvPicPr>
          <p:nvPr/>
        </p:nvPicPr>
        <p:blipFill>
          <a:blip r:embed="rId1"/>
          <a:stretch>
            <a:fillRect/>
          </a:stretch>
        </p:blipFill>
        <p:spPr>
          <a:xfrm>
            <a:off x="914400" y="5207508"/>
            <a:ext cx="329184" cy="329184"/>
          </a:xfrm>
          <a:prstGeom prst="rect">
            <a:avLst/>
          </a:prstGeom>
        </p:spPr>
      </p:pic>
      <p:sp>
        <p:nvSpPr>
          <p:cNvPr id="15" name="teks-294"/>
          <p:cNvSpPr txBox="1"/>
          <p:nvPr/>
        </p:nvSpPr>
        <p:spPr>
          <a:xfrm>
            <a:off x="1417320" y="4937760"/>
            <a:ext cx="2880360" cy="868680"/>
          </a:xfrm>
          <a:prstGeom prst="rect">
            <a:avLst/>
          </a:prstGeom>
          <a:noFill/>
          <a:ln/>
        </p:spPr>
        <p:txBody>
          <a:bodyPr wrap="square" lIns="0" tIns="0" rIns="0" bIns="0" rtlCol="0" anchor="ctr"/>
          <a:lstStyle/>
          <a:p>
            <a:pPr indent="0" marL="0">
              <a:buNone/>
            </a:pPr>
            <a:r>
              <a:rPr lang="en-US" sz="1400" dirty="0">
                <a:solidFill>
                  <a:srgbClr val="78350F"/>
                </a:solidFill>
              </a:rPr>
              <a:t>Beasiswa </a:t>
            </a:r>
            <a:pPr indent="0" marL="0">
              <a:buNone/>
            </a:pPr>
            <a:r>
              <a:rPr lang="en-US" sz="1400" b="1" dirty="0">
                <a:solidFill>
                  <a:srgbClr val="78350F"/>
                </a:solidFill>
              </a:rPr>
              <a:t>penuh terverifikasi</a:t>
            </a:r>
            <a:pPr indent="0" marL="0">
              <a:buNone/>
            </a:pPr>
            <a:r>
              <a:rPr lang="en-US" sz="1400" dirty="0">
                <a:solidFill>
                  <a:srgbClr val="78350F"/>
                </a:solidFill>
              </a:rPr>
              <a:t> membebaskan Anda dari syarat SPP saat kontrak KRS.</a:t>
            </a:r>
            <a:endParaRPr lang="en-US" sz="1400" dirty="0"/>
          </a:p>
        </p:txBody>
      </p:sp>
      <p:sp>
        <p:nvSpPr>
          <p:cNvPr id="16" name="bingkai-295"/>
          <p:cNvSpPr/>
          <p:nvPr/>
        </p:nvSpPr>
        <p:spPr>
          <a:xfrm>
            <a:off x="4709160" y="1828800"/>
            <a:ext cx="6839712" cy="4309110"/>
          </a:xfrm>
          <a:prstGeom prst="roundRect">
            <a:avLst>
              <a:gd name="adj" fmla="val 1698"/>
            </a:avLst>
          </a:prstGeom>
          <a:solidFill>
            <a:srgbClr val="FFFFFF"/>
          </a:solidFill>
          <a:ln w="12700">
            <a:solidFill>
              <a:srgbClr val="CBD5E1"/>
            </a:solidFill>
            <a:prstDash val="solid"/>
          </a:ln>
          <a:effectLst>
            <a:outerShdw sx="100000" sy="100000" kx="0" ky="0" algn="bl" rotWithShape="0" blurRad="152400" dist="38100" dir="5400000">
              <a:srgbClr val="172554">
                <a:alpha val="16000"/>
              </a:srgbClr>
            </a:outerShdw>
          </a:effectLst>
        </p:spPr>
      </p:sp>
      <p:pic>
        <p:nvPicPr>
          <p:cNvPr id="17" name="screenshot-296" descr="Halaman Riwayat Beasiswa">    </p:cNvPr>
          <p:cNvPicPr>
            <a:picLocks noChangeAspect="1"/>
          </p:cNvPicPr>
          <p:nvPr/>
        </p:nvPicPr>
        <p:blipFill>
          <a:blip r:embed="rId2"/>
          <a:stretch>
            <a:fillRect/>
          </a:stretch>
        </p:blipFill>
        <p:spPr>
          <a:xfrm>
            <a:off x="4754880" y="1874520"/>
            <a:ext cx="6748272" cy="4217670"/>
          </a:xfrm>
          <a:prstGeom prst="rect">
            <a:avLst/>
          </a:prstGeom>
        </p:spPr>
      </p:pic>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365760"/>
          </a:xfrm>
          <a:prstGeom prst="rect">
            <a:avLst/>
          </a:prstGeom>
          <a:noFill/>
          <a:ln/>
        </p:spPr>
        <p:txBody>
          <a:bodyPr wrap="square" lIns="0" tIns="0" rIns="0" bIns="0" rtlCol="0" anchor="b"/>
          <a:lstStyle/>
          <a:p>
            <a:pPr indent="0" marL="0">
              <a:buNone/>
            </a:pPr>
            <a:r>
              <a:rPr lang="en-US" sz="1300" b="1" spc="200" kern="0" dirty="0">
                <a:solidFill>
                  <a:schemeClr val="accent3"/>
                </a:solidFill>
              </a:rPr>
              <a:t>JIKA ADA KENDALA</a:t>
            </a:r>
            <a:endParaRPr lang="en-US" sz="1300" dirty="0"/>
          </a:p>
        </p:txBody>
      </p:sp>
      <p:sp>
        <p:nvSpPr>
          <p:cNvPr id="3" name="Text 0"/>
          <p:cNvSpPr/>
          <p:nvPr>
            <p:ph idx="101" type="title" hasCustomPrompt="1"/>
          </p:nvPr>
        </p:nvSpPr>
        <p:spPr>
          <a:xfrm>
            <a:off x="685800" y="868680"/>
            <a:ext cx="10817352" cy="777240"/>
          </a:xfrm>
          <a:prstGeom prst="rect">
            <a:avLst/>
          </a:prstGeom>
          <a:noFill/>
          <a:ln/>
        </p:spPr>
        <p:txBody>
          <a:bodyPr wrap="square" lIns="0" tIns="0" rIns="0" bIns="0" rtlCol="0" anchor="t"/>
          <a:lstStyle/>
          <a:p>
            <a:pPr algn="l" indent="0" marL="0">
              <a:buNone/>
            </a:pPr>
            <a:r>
              <a:rPr lang="en-US" sz="3400" b="1" dirty="0">
                <a:solidFill>
                  <a:schemeClr val="tx1"/>
                </a:solidFill>
              </a:rPr>
              <a:t>Pesan yang sering muncul dan solusinya</a:t>
            </a:r>
            <a:endParaRPr lang="en-US" sz="3400" dirty="0"/>
          </a:p>
        </p:txBody>
      </p:sp>
      <p:graphicFrame>
        <p:nvGraphicFramePr>
          <p:cNvPr id="20" name="tabel-kendala"/>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4206240"/>
                <a:gridCol w="6611112"/>
              </a:tblGrid>
              <a:tr h="548640">
                <a:tc>
                  <a:txBody>
                    <a:bodyPr/>
                    <a:lstStyle/>
                    <a:p>
                      <a:pPr indent="0" marL="0">
                        <a:buNone/>
                      </a:pPr>
                      <a:r>
                        <a:rPr lang="en-US" sz="1500" b="1" dirty="0">
                          <a:solidFill>
                            <a:srgbClr val="FFFFFF"/>
                          </a:solidFill>
                        </a:rPr>
                        <a:t>Pesan di layar</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72554"/>
                    </a:solidFill>
                  </a:tcPr>
                </a:tc>
                <a:tc>
                  <a:txBody>
                    <a:bodyPr/>
                    <a:lstStyle/>
                    <a:p>
                      <a:pPr indent="0" marL="0">
                        <a:buNone/>
                      </a:pPr>
                      <a:r>
                        <a:rPr lang="en-US" sz="1500" b="1" dirty="0">
                          <a:solidFill>
                            <a:srgbClr val="FFFFFF"/>
                          </a:solidFill>
                        </a:rPr>
                        <a:t>Yang perlu dilakukan</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72554"/>
                    </a:solidFill>
                  </a:tcPr>
                </a:tc>
              </a:tr>
              <a:tr h="548640">
                <a:tc>
                  <a:txBody>
                    <a:bodyPr/>
                    <a:lstStyle/>
                    <a:p>
                      <a:pPr indent="0" marL="0">
                        <a:buNone/>
                      </a:pPr>
                      <a:r>
                        <a:rPr lang="en-US" sz="1500" b="1" dirty="0">
                          <a:solidFill>
                            <a:srgbClr val="0F172A"/>
                          </a:solidFill>
                        </a:rPr>
                        <a:t>Anda belum bisa kontrak KRS</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500" dirty="0">
                          <a:solidFill>
                            <a:srgbClr val="0F172A"/>
                          </a:solidFill>
                        </a:rPr>
                        <a:t>Bayar SPP minimal 60%, lalu buka lagi halaman Kontrak KRS.</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0F172A"/>
                          </a:solidFill>
                        </a:rPr>
                        <a:t>Nilai Terkunci</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500" dirty="0">
                          <a:solidFill>
                            <a:srgbClr val="0F172A"/>
                          </a:solidFill>
                        </a:rPr>
                        <a:t>Isi EDOM mata kuliah tersebut lewat tombol Isi EDOM di KHS.</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48640">
                <a:tc>
                  <a:txBody>
                    <a:bodyPr/>
                    <a:lstStyle/>
                    <a:p>
                      <a:pPr indent="0" marL="0">
                        <a:buNone/>
                      </a:pPr>
                      <a:r>
                        <a:rPr lang="en-US" sz="1500" b="1" dirty="0">
                          <a:solidFill>
                            <a:srgbClr val="0F172A"/>
                          </a:solidFill>
                        </a:rPr>
                        <a:t>Lihat KHS tidak bisa diklik</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500" dirty="0">
                          <a:solidFill>
                            <a:srgbClr val="0F172A"/>
                          </a:solidFill>
                        </a:rPr>
                        <a:t>Lengkapi EDOM semua mata kuliah; tunggu nilai yang belum diinput.</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0F172A"/>
                          </a:solidFill>
                        </a:rPr>
                        <a:t>Belum ada jadwal kuliah</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500" dirty="0">
                          <a:solidFill>
                            <a:srgbClr val="0F172A"/>
                          </a:solidFill>
                        </a:rPr>
                        <a:t>Kontrak mata kuliah dulu di menu KRS.</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48640">
                <a:tc>
                  <a:txBody>
                    <a:bodyPr/>
                    <a:lstStyle/>
                    <a:p>
                      <a:pPr indent="0" marL="0">
                        <a:buNone/>
                      </a:pPr>
                      <a:r>
                        <a:rPr lang="en-US" sz="1500" b="1" dirty="0">
                          <a:solidFill>
                            <a:srgbClr val="0F172A"/>
                          </a:solidFill>
                        </a:rPr>
                        <a:t>Jadwal belum tersedia</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500" dirty="0">
                          <a:solidFill>
                            <a:srgbClr val="0F172A"/>
                          </a:solidFill>
                        </a:rPr>
                        <a:t>Jadwal belum dipublikasikan prodi. Cek kembali nanti.</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0F172A"/>
                          </a:solidFill>
                        </a:rPr>
                        <a:t>Gagal memuat data</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500" dirty="0">
                          <a:solidFill>
                            <a:srgbClr val="0F172A"/>
                          </a:solidFill>
                        </a:rPr>
                        <a:t>Periksa koneksi internet, lalu muat ulang halaman.</a:t>
                      </a:r>
                      <a:endParaRPr lang="en-US" sz="1500" dirty="0"/>
                    </a:p>
                  </a:txBody>
                  <a:tcPr marL="182880" marR="182880" marT="73152" marB="73152"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dekor-lingkaran"/>
          <p:cNvSpPr/>
          <p:nvPr/>
        </p:nvSpPr>
        <p:spPr>
          <a:xfrm>
            <a:off x="8778240" y="-1280160"/>
            <a:ext cx="4480560" cy="4480560"/>
          </a:xfrm>
          <a:prstGeom prst="ellipse">
            <a:avLst/>
          </a:prstGeom>
          <a:solidFill>
            <a:srgbClr val="1E3A8A">
              <a:alpha val="70000"/>
            </a:srgbClr>
          </a:solidFill>
          <a:ln/>
        </p:spPr>
      </p:sp>
      <p:sp>
        <p:nvSpPr>
          <p:cNvPr id="3" name="Text 0"/>
          <p:cNvSpPr/>
          <p:nvPr>
            <p:ph idx="100" type="body" hasCustomPrompt="1"/>
          </p:nvPr>
        </p:nvSpPr>
        <p:spPr>
          <a:xfrm>
            <a:off x="813816" y="2331720"/>
            <a:ext cx="7315200" cy="411480"/>
          </a:xfrm>
          <a:prstGeom prst="rect">
            <a:avLst/>
          </a:prstGeom>
          <a:noFill/>
          <a:ln/>
        </p:spPr>
        <p:txBody>
          <a:bodyPr wrap="square" lIns="0" tIns="0" rIns="0" bIns="0" rtlCol="0" anchor="b"/>
          <a:lstStyle/>
          <a:p>
            <a:pPr indent="0" marL="0">
              <a:buNone/>
            </a:pPr>
            <a:r>
              <a:rPr lang="en-US" sz="1500" b="1" spc="300" kern="0" dirty="0">
                <a:solidFill>
                  <a:schemeClr val="accent2"/>
                </a:solidFill>
              </a:rPr>
              <a:t>RINGKASNYA</a:t>
            </a:r>
            <a:endParaRPr lang="en-US" sz="1500" dirty="0"/>
          </a:p>
        </p:txBody>
      </p:sp>
      <p:sp>
        <p:nvSpPr>
          <p:cNvPr id="4" name="Text 0"/>
          <p:cNvSpPr/>
          <p:nvPr>
            <p:ph idx="101" type="title" hasCustomPrompt="1"/>
          </p:nvPr>
        </p:nvSpPr>
        <p:spPr>
          <a:xfrm>
            <a:off x="813816" y="2788920"/>
            <a:ext cx="7498080" cy="1783080"/>
          </a:xfrm>
          <a:prstGeom prst="rect">
            <a:avLst/>
          </a:prstGeom>
          <a:noFill/>
          <a:ln/>
        </p:spPr>
        <p:txBody>
          <a:bodyPr wrap="square" lIns="0" tIns="0" rIns="0" bIns="0" rtlCol="0" anchor="t"/>
          <a:lstStyle/>
          <a:p>
            <a:pPr algn="l" indent="0" marL="0">
              <a:lnSpc>
                <a:spcPct val="95000"/>
              </a:lnSpc>
              <a:buNone/>
            </a:pPr>
            <a:r>
              <a:rPr lang="en-US" sz="5200" b="1" dirty="0">
                <a:solidFill>
                  <a:schemeClr val="bg1"/>
                </a:solidFill>
              </a:rPr>
              <a:t>Bayar, kontrak, evaluasi, cetak</a:t>
            </a:r>
            <a:endParaRPr lang="en-US" sz="5200" dirty="0"/>
          </a:p>
        </p:txBody>
      </p:sp>
      <p:pic>
        <p:nvPicPr>
          <p:cNvPr id="5" name="centang-297" descr="preencoded.png">    </p:cNvPr>
          <p:cNvPicPr>
            <a:picLocks noChangeAspect="1"/>
          </p:cNvPicPr>
          <p:nvPr/>
        </p:nvPicPr>
        <p:blipFill>
          <a:blip r:embed="rId1"/>
          <a:stretch>
            <a:fillRect/>
          </a:stretch>
        </p:blipFill>
        <p:spPr>
          <a:xfrm>
            <a:off x="813816" y="4709160"/>
            <a:ext cx="329184" cy="329184"/>
          </a:xfrm>
          <a:prstGeom prst="rect">
            <a:avLst/>
          </a:prstGeom>
        </p:spPr>
      </p:pic>
      <p:sp>
        <p:nvSpPr>
          <p:cNvPr id="6" name="teks-298"/>
          <p:cNvSpPr txBox="1"/>
          <p:nvPr/>
        </p:nvSpPr>
        <p:spPr>
          <a:xfrm>
            <a:off x="1271016" y="4681728"/>
            <a:ext cx="2148840" cy="384048"/>
          </a:xfrm>
          <a:prstGeom prst="rect">
            <a:avLst/>
          </a:prstGeom>
          <a:noFill/>
          <a:ln/>
        </p:spPr>
        <p:txBody>
          <a:bodyPr wrap="square" lIns="0" tIns="0" rIns="0" bIns="0" rtlCol="0" anchor="ctr"/>
          <a:lstStyle/>
          <a:p>
            <a:pPr indent="0" marL="0">
              <a:buNone/>
            </a:pPr>
            <a:r>
              <a:rPr lang="en-US" sz="1600" dirty="0">
                <a:solidFill>
                  <a:srgbClr val="BFDBFE"/>
                </a:solidFill>
              </a:rPr>
              <a:t>SPP minimal 60%</a:t>
            </a:r>
            <a:endParaRPr lang="en-US" sz="1600" dirty="0"/>
          </a:p>
        </p:txBody>
      </p:sp>
      <p:pic>
        <p:nvPicPr>
          <p:cNvPr id="7" name="centang-299" descr="preencoded.png">    </p:cNvPr>
          <p:cNvPicPr>
            <a:picLocks noChangeAspect="1"/>
          </p:cNvPicPr>
          <p:nvPr/>
        </p:nvPicPr>
        <p:blipFill>
          <a:blip r:embed="rId2"/>
          <a:stretch>
            <a:fillRect/>
          </a:stretch>
        </p:blipFill>
        <p:spPr>
          <a:xfrm>
            <a:off x="3511296" y="4709160"/>
            <a:ext cx="329184" cy="329184"/>
          </a:xfrm>
          <a:prstGeom prst="rect">
            <a:avLst/>
          </a:prstGeom>
        </p:spPr>
      </p:pic>
      <p:sp>
        <p:nvSpPr>
          <p:cNvPr id="8" name="teks-300"/>
          <p:cNvSpPr txBox="1"/>
          <p:nvPr/>
        </p:nvSpPr>
        <p:spPr>
          <a:xfrm>
            <a:off x="3968496" y="4681728"/>
            <a:ext cx="2148840" cy="384048"/>
          </a:xfrm>
          <a:prstGeom prst="rect">
            <a:avLst/>
          </a:prstGeom>
          <a:noFill/>
          <a:ln/>
        </p:spPr>
        <p:txBody>
          <a:bodyPr wrap="square" lIns="0" tIns="0" rIns="0" bIns="0" rtlCol="0" anchor="ctr"/>
          <a:lstStyle/>
          <a:p>
            <a:pPr indent="0" marL="0">
              <a:buNone/>
            </a:pPr>
            <a:r>
              <a:rPr lang="en-US" sz="1600" dirty="0">
                <a:solidFill>
                  <a:srgbClr val="BFDBFE"/>
                </a:solidFill>
              </a:rPr>
              <a:t>KRS disetujui PA</a:t>
            </a:r>
            <a:endParaRPr lang="en-US" sz="1600" dirty="0"/>
          </a:p>
        </p:txBody>
      </p:sp>
      <p:pic>
        <p:nvPicPr>
          <p:cNvPr id="9" name="centang-301" descr="preencoded.png">    </p:cNvPr>
          <p:cNvPicPr>
            <a:picLocks noChangeAspect="1"/>
          </p:cNvPicPr>
          <p:nvPr/>
        </p:nvPicPr>
        <p:blipFill>
          <a:blip r:embed="rId3"/>
          <a:stretch>
            <a:fillRect/>
          </a:stretch>
        </p:blipFill>
        <p:spPr>
          <a:xfrm>
            <a:off x="6208776" y="4709160"/>
            <a:ext cx="329184" cy="329184"/>
          </a:xfrm>
          <a:prstGeom prst="rect">
            <a:avLst/>
          </a:prstGeom>
        </p:spPr>
      </p:pic>
      <p:sp>
        <p:nvSpPr>
          <p:cNvPr id="10" name="teks-302"/>
          <p:cNvSpPr txBox="1"/>
          <p:nvPr/>
        </p:nvSpPr>
        <p:spPr>
          <a:xfrm>
            <a:off x="6665976" y="4681728"/>
            <a:ext cx="2148840" cy="384048"/>
          </a:xfrm>
          <a:prstGeom prst="rect">
            <a:avLst/>
          </a:prstGeom>
          <a:noFill/>
          <a:ln/>
        </p:spPr>
        <p:txBody>
          <a:bodyPr wrap="square" lIns="0" tIns="0" rIns="0" bIns="0" rtlCol="0" anchor="ctr"/>
          <a:lstStyle/>
          <a:p>
            <a:pPr indent="0" marL="0">
              <a:buNone/>
            </a:pPr>
            <a:r>
              <a:rPr lang="en-US" sz="1600" dirty="0">
                <a:solidFill>
                  <a:srgbClr val="BFDBFE"/>
                </a:solidFill>
              </a:rPr>
              <a:t>EDOM semua matkul</a:t>
            </a:r>
            <a:endParaRPr lang="en-US" sz="1600" dirty="0"/>
          </a:p>
        </p:txBody>
      </p:sp>
      <p:pic>
        <p:nvPicPr>
          <p:cNvPr id="11" name="centang-303" descr="preencoded.png">    </p:cNvPr>
          <p:cNvPicPr>
            <a:picLocks noChangeAspect="1"/>
          </p:cNvPicPr>
          <p:nvPr/>
        </p:nvPicPr>
        <p:blipFill>
          <a:blip r:embed="rId4"/>
          <a:stretch>
            <a:fillRect/>
          </a:stretch>
        </p:blipFill>
        <p:spPr>
          <a:xfrm>
            <a:off x="8906256" y="4709160"/>
            <a:ext cx="329184" cy="329184"/>
          </a:xfrm>
          <a:prstGeom prst="rect">
            <a:avLst/>
          </a:prstGeom>
        </p:spPr>
      </p:pic>
      <p:sp>
        <p:nvSpPr>
          <p:cNvPr id="12" name="teks-304"/>
          <p:cNvSpPr txBox="1"/>
          <p:nvPr/>
        </p:nvSpPr>
        <p:spPr>
          <a:xfrm>
            <a:off x="9363456" y="4681728"/>
            <a:ext cx="2148840" cy="384048"/>
          </a:xfrm>
          <a:prstGeom prst="rect">
            <a:avLst/>
          </a:prstGeom>
          <a:noFill/>
          <a:ln/>
        </p:spPr>
        <p:txBody>
          <a:bodyPr wrap="square" lIns="0" tIns="0" rIns="0" bIns="0" rtlCol="0" anchor="ctr"/>
          <a:lstStyle/>
          <a:p>
            <a:pPr indent="0" marL="0">
              <a:buNone/>
            </a:pPr>
            <a:r>
              <a:rPr lang="en-US" sz="1600" dirty="0">
                <a:solidFill>
                  <a:srgbClr val="BFDBFE"/>
                </a:solidFill>
              </a:rPr>
              <a:t>KHS dicetak</a:t>
            </a:r>
            <a:endParaRPr lang="en-US" sz="1600" dirty="0"/>
          </a:p>
        </p:txBody>
      </p:sp>
      <p:sp>
        <p:nvSpPr>
          <p:cNvPr id="13" name="teks-305"/>
          <p:cNvSpPr txBox="1"/>
          <p:nvPr/>
        </p:nvSpPr>
        <p:spPr>
          <a:xfrm>
            <a:off x="813816" y="5577840"/>
            <a:ext cx="9144000" cy="411480"/>
          </a:xfrm>
          <a:prstGeom prst="rect">
            <a:avLst/>
          </a:prstGeom>
          <a:noFill/>
          <a:ln/>
        </p:spPr>
        <p:txBody>
          <a:bodyPr wrap="square" lIns="0" tIns="0" rIns="0" bIns="0" rtlCol="0" anchor="t"/>
          <a:lstStyle/>
          <a:p>
            <a:pPr indent="0" marL="0">
              <a:buNone/>
            </a:pPr>
            <a:r>
              <a:rPr lang="en-US" sz="1700" dirty="0">
                <a:solidFill>
                  <a:srgbClr val="93C5FD"/>
                </a:solidFill>
              </a:rPr>
              <a:t>Pertanyaan? Hubungi bagian akademik atau program studi Anda.</a:t>
            </a:r>
            <a:endParaRPr lang="en-US" sz="1700" dirty="0"/>
          </a:p>
        </p:txBody>
      </p:sp>
    </p:spTree>
  </p:cSld>
  <p:clrMapOvr>
    <a:masterClrMapping/>
  </p:clrMapOvr>
</p:sld>
</file>

<file path=ppt/theme/theme1.xml><?xml version="1.0" encoding="utf-8"?>
<a:theme xmlns:a="http://schemas.openxmlformats.org/drawingml/2006/main" name="SIMAWA">
  <a:themeElements>
    <a:clrScheme name="SIMAWA">
      <a:dk1>
        <a:srgbClr val="0F172A"/>
      </a:dk1>
      <a:lt1>
        <a:srgbClr val="FFFFFF"/>
      </a:lt1>
      <a:dk2>
        <a:srgbClr val="172554"/>
      </a:dk2>
      <a:lt2>
        <a:srgbClr val="F8FAFC"/>
      </a:lt2>
      <a:accent1>
        <a:srgbClr val="2563EB"/>
      </a:accent1>
      <a:accent2>
        <a:srgbClr val="F59E0B"/>
      </a:accent2>
      <a:accent3>
        <a:srgbClr val="B45309"/>
      </a:accent3>
      <a:accent4>
        <a:srgbClr val="15803D"/>
      </a:accent4>
      <a:accent5>
        <a:srgbClr val="B91C1C"/>
      </a:accent5>
      <a:accent6>
        <a:srgbClr val="475569"/>
      </a:accent6>
      <a:hlink>
        <a:srgbClr val="2563EB"/>
      </a:hlink>
      <a:folHlink>
        <a:srgbClr val="1E3A8A"/>
      </a:folHlink>
    </a:clrScheme>
    <a:fontScheme name="SIMAWA">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Panduan Penggunaan SIMAWA</dc:title>
  <dc:subject>PptxGenJS Presentation</dc:subject>
  <dc:creator>Universitas Muhammadiyah Jambi</dc:creator>
  <cp:lastModifiedBy>Universitas Muhammadiyah Jambi</cp:lastModifiedBy>
  <cp:revision>1</cp:revision>
  <dcterms:created xsi:type="dcterms:W3CDTF">2026-10-04T00:20:39Z</dcterms:created>
  <dcterms:modified xsi:type="dcterms:W3CDTF">2026-10-04T00:20:39Z</dcterms:modified>
</cp:coreProperties>
</file>